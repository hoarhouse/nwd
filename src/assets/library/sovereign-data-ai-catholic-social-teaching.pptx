
<file path=[Content_Types].xml><?xml version="1.0" encoding="utf-8"?>
<Types xmlns="http://schemas.openxmlformats.org/package/2006/content-types">
  <Default Extension="bin"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17.bin" ContentType="image/jpeg"/>
  <Override PartName="/ppt/media/image23.bin" ContentType="image/jpeg"/>
  <Override PartName="/docProps/core.xml" ContentType="application/vnd.openxmlformats-package.core-properties+xml"/>
  <Override PartName="/docProps/app.xml" ContentType="application/vnd.openxmlformats-officedocument.extended-properties+xml"/>
  <Override PartName="/ppt/media/image80.bin" ContentType="image/svg+xml"/>
  <Override PartName="/ppt/media/image110.bin" ContentType="image/svg+xml"/>
  <Override PartName="/ppt/media/image16.bin" ContentType="image/svg+xml"/>
  <Override PartName="/ppt/media/image34.bin" ContentType="image/svg+xml"/>
  <Override PartName="/ppt/media/image37.bin" ContentType="image/svg+xml"/>
  <Override PartName="/ppt/media/image33.bin" ContentType="image/svg+xml"/>
  <Override PartName="/ppt/media/image350.bin" ContentType="image/svg+xml"/>
  <Override PartName="/ppt/media/image370.bin" ContentType="image/svg+xml"/>
  <Override PartName="/ppt/media/image39.bin" ContentType="image/svg+xml"/>
  <Override PartName="/ppt/media/image41.bin" ContentType="image/svg+xml"/>
  <Override PartName="/ppt/media/image50.bin" ContentType="image/svg+xml"/>
  <Override PartName="/ppt/media/image54.bin" ContentType="image/svg+xml"/>
  <Override PartName="/ppt/media/image61.bin" ContentType="image/svg+xml"/>
  <Override PartName="/ppt/media/image64.bin" ContentType="image/svg+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438" r:id="rId2"/>
    <p:sldId id="365" r:id="rId3"/>
    <p:sldId id="315" r:id="rId4"/>
    <p:sldId id="472" r:id="rId5"/>
    <p:sldId id="393" r:id="rId6"/>
    <p:sldId id="301" r:id="rId7"/>
    <p:sldId id="314" r:id="rId8"/>
    <p:sldId id="343" r:id="rId9"/>
    <p:sldId id="366" r:id="rId10"/>
    <p:sldId id="406" r:id="rId11"/>
    <p:sldId id="47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5921"/>
  </p:normalViewPr>
  <p:slideViewPr>
    <p:cSldViewPr snapToGrid="0">
      <p:cViewPr varScale="1">
        <p:scale>
          <a:sx n="121" d="100"/>
          <a:sy n="121" d="100"/>
        </p:scale>
        <p:origin x="200" y="3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155322-9DFB-B242-8EE8-E69FE7DB115A}" type="datetimeFigureOut">
              <a:rPr lang="en-US" smtClean="0"/>
              <a:t>12/31/25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B5B72F-1626-9E40-9C7D-A3AEE1E84512}" type="slidenum">
              <a:rPr lang="en-US" smtClean="0"/>
              <a:t>‹#›</a:t>
            </a:fld>
            <a:endParaRPr lang="en-US"/>
          </a:p>
        </p:txBody>
      </p:sp>
    </p:spTree>
    <p:extLst>
      <p:ext uri="{BB962C8B-B14F-4D97-AF65-F5344CB8AC3E}">
        <p14:creationId xmlns:p14="http://schemas.microsoft.com/office/powerpoint/2010/main" val="303501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90CEF-57C8-6614-213D-66A7AA1DEF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CD2CE27-C0BB-205F-98CD-48C9B4C8F8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D07EC1A-37E7-1744-AB9B-07F754A17C2A}"/>
              </a:ext>
            </a:extLst>
          </p:cNvPr>
          <p:cNvSpPr>
            <a:spLocks noGrp="1"/>
          </p:cNvSpPr>
          <p:nvPr>
            <p:ph type="dt" sz="half" idx="10"/>
          </p:nvPr>
        </p:nvSpPr>
        <p:spPr/>
        <p:txBody>
          <a:bodyPr/>
          <a:lstStyle/>
          <a:p>
            <a:fld id="{FFBAE321-ED50-6F4B-A378-E90B49BF492C}" type="datetime1">
              <a:rPr lang="en-US" smtClean="0"/>
              <a:t>12/31/25</a:t>
            </a:fld>
            <a:endParaRPr lang="en-US"/>
          </a:p>
        </p:txBody>
      </p:sp>
      <p:sp>
        <p:nvSpPr>
          <p:cNvPr id="5" name="Footer Placeholder 4">
            <a:extLst>
              <a:ext uri="{FF2B5EF4-FFF2-40B4-BE49-F238E27FC236}">
                <a16:creationId xmlns:a16="http://schemas.microsoft.com/office/drawing/2014/main" id="{D4EB1A47-2D94-D295-4B2C-B7E7B5228961}"/>
              </a:ext>
            </a:extLst>
          </p:cNvPr>
          <p:cNvSpPr>
            <a:spLocks noGrp="1"/>
          </p:cNvSpPr>
          <p:nvPr>
            <p:ph type="ftr" sz="quarter" idx="11"/>
          </p:nvPr>
        </p:nvSpPr>
        <p:spPr/>
        <p:txBody>
          <a:bodyPr/>
          <a:lstStyle/>
          <a:p>
            <a:r>
              <a:rPr lang="en-US"/>
              <a:t>by Zoltan Pap © December 25, 2025</a:t>
            </a:r>
          </a:p>
        </p:txBody>
      </p:sp>
      <p:sp>
        <p:nvSpPr>
          <p:cNvPr id="6" name="Slide Number Placeholder 5">
            <a:extLst>
              <a:ext uri="{FF2B5EF4-FFF2-40B4-BE49-F238E27FC236}">
                <a16:creationId xmlns:a16="http://schemas.microsoft.com/office/drawing/2014/main" id="{6D2CCC6D-48B0-90D0-192C-63EDA38DDB28}"/>
              </a:ext>
            </a:extLst>
          </p:cNvPr>
          <p:cNvSpPr>
            <a:spLocks noGrp="1"/>
          </p:cNvSpPr>
          <p:nvPr>
            <p:ph type="sldNum" sz="quarter" idx="12"/>
          </p:nvPr>
        </p:nvSpPr>
        <p:spPr/>
        <p:txBody>
          <a:bodyPr/>
          <a:lstStyle/>
          <a:p>
            <a:fld id="{370C4C9F-8A31-E842-93B0-ED7A4CC0BB5A}" type="slidenum">
              <a:rPr lang="en-US" smtClean="0"/>
              <a:t>‹#›</a:t>
            </a:fld>
            <a:endParaRPr lang="en-US"/>
          </a:p>
        </p:txBody>
      </p:sp>
    </p:spTree>
    <p:extLst>
      <p:ext uri="{BB962C8B-B14F-4D97-AF65-F5344CB8AC3E}">
        <p14:creationId xmlns:p14="http://schemas.microsoft.com/office/powerpoint/2010/main" val="89727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9E7EE-40E9-3254-E8AF-6A19B94AEF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1D532E-F6BE-0E6E-280C-D4B3FC13FF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1BDB4B-B2B8-27F8-4814-D79C201AA2A5}"/>
              </a:ext>
            </a:extLst>
          </p:cNvPr>
          <p:cNvSpPr>
            <a:spLocks noGrp="1"/>
          </p:cNvSpPr>
          <p:nvPr>
            <p:ph type="dt" sz="half" idx="10"/>
          </p:nvPr>
        </p:nvSpPr>
        <p:spPr/>
        <p:txBody>
          <a:bodyPr/>
          <a:lstStyle/>
          <a:p>
            <a:fld id="{195C6795-065D-364E-8279-9658F4600381}" type="datetime1">
              <a:rPr lang="en-US" smtClean="0"/>
              <a:t>12/31/25</a:t>
            </a:fld>
            <a:endParaRPr lang="en-US"/>
          </a:p>
        </p:txBody>
      </p:sp>
      <p:sp>
        <p:nvSpPr>
          <p:cNvPr id="5" name="Footer Placeholder 4">
            <a:extLst>
              <a:ext uri="{FF2B5EF4-FFF2-40B4-BE49-F238E27FC236}">
                <a16:creationId xmlns:a16="http://schemas.microsoft.com/office/drawing/2014/main" id="{926CB058-7BCF-C301-7611-AEDEDF9B9DE0}"/>
              </a:ext>
            </a:extLst>
          </p:cNvPr>
          <p:cNvSpPr>
            <a:spLocks noGrp="1"/>
          </p:cNvSpPr>
          <p:nvPr>
            <p:ph type="ftr" sz="quarter" idx="11"/>
          </p:nvPr>
        </p:nvSpPr>
        <p:spPr/>
        <p:txBody>
          <a:bodyPr/>
          <a:lstStyle/>
          <a:p>
            <a:r>
              <a:rPr lang="en-US"/>
              <a:t>by Zoltan Pap © December 25, 2025</a:t>
            </a:r>
          </a:p>
        </p:txBody>
      </p:sp>
      <p:sp>
        <p:nvSpPr>
          <p:cNvPr id="6" name="Slide Number Placeholder 5">
            <a:extLst>
              <a:ext uri="{FF2B5EF4-FFF2-40B4-BE49-F238E27FC236}">
                <a16:creationId xmlns:a16="http://schemas.microsoft.com/office/drawing/2014/main" id="{55B9B256-16B5-CC47-67BC-519B89C74BB6}"/>
              </a:ext>
            </a:extLst>
          </p:cNvPr>
          <p:cNvSpPr>
            <a:spLocks noGrp="1"/>
          </p:cNvSpPr>
          <p:nvPr>
            <p:ph type="sldNum" sz="quarter" idx="12"/>
          </p:nvPr>
        </p:nvSpPr>
        <p:spPr/>
        <p:txBody>
          <a:bodyPr/>
          <a:lstStyle/>
          <a:p>
            <a:fld id="{370C4C9F-8A31-E842-93B0-ED7A4CC0BB5A}" type="slidenum">
              <a:rPr lang="en-US" smtClean="0"/>
              <a:t>‹#›</a:t>
            </a:fld>
            <a:endParaRPr lang="en-US"/>
          </a:p>
        </p:txBody>
      </p:sp>
    </p:spTree>
    <p:extLst>
      <p:ext uri="{BB962C8B-B14F-4D97-AF65-F5344CB8AC3E}">
        <p14:creationId xmlns:p14="http://schemas.microsoft.com/office/powerpoint/2010/main" val="13396567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D2951-450F-B9CC-399D-433A8A761B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E8CEA9A-BE82-4A88-1C5C-B74252C7AE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D64115-14F0-F139-5BB2-2A40F4F9EDBF}"/>
              </a:ext>
            </a:extLst>
          </p:cNvPr>
          <p:cNvSpPr>
            <a:spLocks noGrp="1"/>
          </p:cNvSpPr>
          <p:nvPr>
            <p:ph type="dt" sz="half" idx="10"/>
          </p:nvPr>
        </p:nvSpPr>
        <p:spPr/>
        <p:txBody>
          <a:bodyPr/>
          <a:lstStyle/>
          <a:p>
            <a:fld id="{7D46ED82-907A-D148-9E07-A09D605DBCDE}" type="datetime1">
              <a:rPr lang="en-US" smtClean="0"/>
              <a:t>12/31/25</a:t>
            </a:fld>
            <a:endParaRPr lang="en-US"/>
          </a:p>
        </p:txBody>
      </p:sp>
      <p:sp>
        <p:nvSpPr>
          <p:cNvPr id="5" name="Footer Placeholder 4">
            <a:extLst>
              <a:ext uri="{FF2B5EF4-FFF2-40B4-BE49-F238E27FC236}">
                <a16:creationId xmlns:a16="http://schemas.microsoft.com/office/drawing/2014/main" id="{D61CBC69-CB09-CC15-2C90-2B6B2B23D432}"/>
              </a:ext>
            </a:extLst>
          </p:cNvPr>
          <p:cNvSpPr>
            <a:spLocks noGrp="1"/>
          </p:cNvSpPr>
          <p:nvPr>
            <p:ph type="ftr" sz="quarter" idx="11"/>
          </p:nvPr>
        </p:nvSpPr>
        <p:spPr/>
        <p:txBody>
          <a:bodyPr/>
          <a:lstStyle/>
          <a:p>
            <a:r>
              <a:rPr lang="en-US"/>
              <a:t>by Zoltan Pap © December 25, 2025</a:t>
            </a:r>
          </a:p>
        </p:txBody>
      </p:sp>
      <p:sp>
        <p:nvSpPr>
          <p:cNvPr id="6" name="Slide Number Placeholder 5">
            <a:extLst>
              <a:ext uri="{FF2B5EF4-FFF2-40B4-BE49-F238E27FC236}">
                <a16:creationId xmlns:a16="http://schemas.microsoft.com/office/drawing/2014/main" id="{477BE41D-6B6F-F6EA-86E5-0CD9589EEA66}"/>
              </a:ext>
            </a:extLst>
          </p:cNvPr>
          <p:cNvSpPr>
            <a:spLocks noGrp="1"/>
          </p:cNvSpPr>
          <p:nvPr>
            <p:ph type="sldNum" sz="quarter" idx="12"/>
          </p:nvPr>
        </p:nvSpPr>
        <p:spPr/>
        <p:txBody>
          <a:bodyPr/>
          <a:lstStyle/>
          <a:p>
            <a:fld id="{370C4C9F-8A31-E842-93B0-ED7A4CC0BB5A}" type="slidenum">
              <a:rPr lang="en-US" smtClean="0"/>
              <a:t>‹#›</a:t>
            </a:fld>
            <a:endParaRPr lang="en-US"/>
          </a:p>
        </p:txBody>
      </p:sp>
    </p:spTree>
    <p:extLst>
      <p:ext uri="{BB962C8B-B14F-4D97-AF65-F5344CB8AC3E}">
        <p14:creationId xmlns:p14="http://schemas.microsoft.com/office/powerpoint/2010/main" val="242492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1748C-98ED-E249-71CE-0558F0F15C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6E252A-ADFF-48E7-48A2-86167C76812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78C33D6-1DCF-5530-9F55-A31EDB4DF1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BDFE8EF-AC48-DD56-5511-47A6C14F4541}"/>
              </a:ext>
            </a:extLst>
          </p:cNvPr>
          <p:cNvSpPr>
            <a:spLocks noGrp="1"/>
          </p:cNvSpPr>
          <p:nvPr>
            <p:ph type="dt" sz="half" idx="10"/>
          </p:nvPr>
        </p:nvSpPr>
        <p:spPr/>
        <p:txBody>
          <a:bodyPr/>
          <a:lstStyle/>
          <a:p>
            <a:fld id="{47CF2763-023A-B74B-BDFC-091662C98A3C}" type="datetime1">
              <a:rPr lang="en-US" smtClean="0"/>
              <a:t>12/31/25</a:t>
            </a:fld>
            <a:endParaRPr lang="en-US"/>
          </a:p>
        </p:txBody>
      </p:sp>
      <p:sp>
        <p:nvSpPr>
          <p:cNvPr id="6" name="Footer Placeholder 5">
            <a:extLst>
              <a:ext uri="{FF2B5EF4-FFF2-40B4-BE49-F238E27FC236}">
                <a16:creationId xmlns:a16="http://schemas.microsoft.com/office/drawing/2014/main" id="{5C6C3B65-58E7-D0F3-06CB-99D99909830E}"/>
              </a:ext>
            </a:extLst>
          </p:cNvPr>
          <p:cNvSpPr>
            <a:spLocks noGrp="1"/>
          </p:cNvSpPr>
          <p:nvPr>
            <p:ph type="ftr" sz="quarter" idx="11"/>
          </p:nvPr>
        </p:nvSpPr>
        <p:spPr/>
        <p:txBody>
          <a:bodyPr/>
          <a:lstStyle/>
          <a:p>
            <a:r>
              <a:rPr lang="en-US"/>
              <a:t>by Zoltan Pap © December 25, 2025</a:t>
            </a:r>
          </a:p>
        </p:txBody>
      </p:sp>
      <p:sp>
        <p:nvSpPr>
          <p:cNvPr id="7" name="Slide Number Placeholder 6">
            <a:extLst>
              <a:ext uri="{FF2B5EF4-FFF2-40B4-BE49-F238E27FC236}">
                <a16:creationId xmlns:a16="http://schemas.microsoft.com/office/drawing/2014/main" id="{5E97D35F-40C7-CF1A-441D-E05D8401A056}"/>
              </a:ext>
            </a:extLst>
          </p:cNvPr>
          <p:cNvSpPr>
            <a:spLocks noGrp="1"/>
          </p:cNvSpPr>
          <p:nvPr>
            <p:ph type="sldNum" sz="quarter" idx="12"/>
          </p:nvPr>
        </p:nvSpPr>
        <p:spPr/>
        <p:txBody>
          <a:bodyPr/>
          <a:lstStyle/>
          <a:p>
            <a:fld id="{370C4C9F-8A31-E842-93B0-ED7A4CC0BB5A}" type="slidenum">
              <a:rPr lang="en-US" smtClean="0"/>
              <a:t>‹#›</a:t>
            </a:fld>
            <a:endParaRPr lang="en-US"/>
          </a:p>
        </p:txBody>
      </p:sp>
    </p:spTree>
    <p:extLst>
      <p:ext uri="{BB962C8B-B14F-4D97-AF65-F5344CB8AC3E}">
        <p14:creationId xmlns:p14="http://schemas.microsoft.com/office/powerpoint/2010/main" val="15601732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1EBB4-F9CC-92C2-1CA0-F95EC7B440F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6D6A501-8127-E160-D4D3-A9C0174823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37CCC2-5F98-C52D-63A1-1A711354CA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8BCBB30-33A5-E78A-CE98-AD8EE3339E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3CAEBF-58E5-B013-DBEA-E4B9EDFC884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C9E271A-9267-961C-1815-B91147A0AE3F}"/>
              </a:ext>
            </a:extLst>
          </p:cNvPr>
          <p:cNvSpPr>
            <a:spLocks noGrp="1"/>
          </p:cNvSpPr>
          <p:nvPr>
            <p:ph type="dt" sz="half" idx="10"/>
          </p:nvPr>
        </p:nvSpPr>
        <p:spPr/>
        <p:txBody>
          <a:bodyPr/>
          <a:lstStyle/>
          <a:p>
            <a:fld id="{EC01AE87-E213-FA4F-93A6-B0CFACE88DAF}" type="datetime1">
              <a:rPr lang="en-US" smtClean="0"/>
              <a:t>12/31/25</a:t>
            </a:fld>
            <a:endParaRPr lang="en-US"/>
          </a:p>
        </p:txBody>
      </p:sp>
      <p:sp>
        <p:nvSpPr>
          <p:cNvPr id="8" name="Footer Placeholder 7">
            <a:extLst>
              <a:ext uri="{FF2B5EF4-FFF2-40B4-BE49-F238E27FC236}">
                <a16:creationId xmlns:a16="http://schemas.microsoft.com/office/drawing/2014/main" id="{DD2E6F7B-0C63-5DC0-FF5C-26BE7FEF6FC1}"/>
              </a:ext>
            </a:extLst>
          </p:cNvPr>
          <p:cNvSpPr>
            <a:spLocks noGrp="1"/>
          </p:cNvSpPr>
          <p:nvPr>
            <p:ph type="ftr" sz="quarter" idx="11"/>
          </p:nvPr>
        </p:nvSpPr>
        <p:spPr/>
        <p:txBody>
          <a:bodyPr/>
          <a:lstStyle/>
          <a:p>
            <a:r>
              <a:rPr lang="en-US"/>
              <a:t>by Zoltan Pap © December 25, 2025</a:t>
            </a:r>
          </a:p>
        </p:txBody>
      </p:sp>
      <p:sp>
        <p:nvSpPr>
          <p:cNvPr id="9" name="Slide Number Placeholder 8">
            <a:extLst>
              <a:ext uri="{FF2B5EF4-FFF2-40B4-BE49-F238E27FC236}">
                <a16:creationId xmlns:a16="http://schemas.microsoft.com/office/drawing/2014/main" id="{6DCC9314-772B-A68C-B78E-3A2C2F2485BA}"/>
              </a:ext>
            </a:extLst>
          </p:cNvPr>
          <p:cNvSpPr>
            <a:spLocks noGrp="1"/>
          </p:cNvSpPr>
          <p:nvPr>
            <p:ph type="sldNum" sz="quarter" idx="12"/>
          </p:nvPr>
        </p:nvSpPr>
        <p:spPr/>
        <p:txBody>
          <a:bodyPr/>
          <a:lstStyle/>
          <a:p>
            <a:fld id="{370C4C9F-8A31-E842-93B0-ED7A4CC0BB5A}" type="slidenum">
              <a:rPr lang="en-US" smtClean="0"/>
              <a:t>‹#›</a:t>
            </a:fld>
            <a:endParaRPr lang="en-US"/>
          </a:p>
        </p:txBody>
      </p:sp>
    </p:spTree>
    <p:extLst>
      <p:ext uri="{BB962C8B-B14F-4D97-AF65-F5344CB8AC3E}">
        <p14:creationId xmlns:p14="http://schemas.microsoft.com/office/powerpoint/2010/main" val="694937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2F850-7F8B-5D3B-00D5-4788534C4AE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5F1CB0-CA97-1EEA-E03D-B6FA59EFDE93}"/>
              </a:ext>
            </a:extLst>
          </p:cNvPr>
          <p:cNvSpPr>
            <a:spLocks noGrp="1"/>
          </p:cNvSpPr>
          <p:nvPr>
            <p:ph type="dt" sz="half" idx="10"/>
          </p:nvPr>
        </p:nvSpPr>
        <p:spPr/>
        <p:txBody>
          <a:bodyPr/>
          <a:lstStyle/>
          <a:p>
            <a:fld id="{3A49994F-72FE-A04A-A59E-FC8E3363596A}" type="datetime1">
              <a:rPr lang="en-US" smtClean="0"/>
              <a:t>12/31/25</a:t>
            </a:fld>
            <a:endParaRPr lang="en-US"/>
          </a:p>
        </p:txBody>
      </p:sp>
      <p:sp>
        <p:nvSpPr>
          <p:cNvPr id="4" name="Footer Placeholder 3">
            <a:extLst>
              <a:ext uri="{FF2B5EF4-FFF2-40B4-BE49-F238E27FC236}">
                <a16:creationId xmlns:a16="http://schemas.microsoft.com/office/drawing/2014/main" id="{A830E85D-9D4E-DC45-54FE-F8A7FF90F754}"/>
              </a:ext>
            </a:extLst>
          </p:cNvPr>
          <p:cNvSpPr>
            <a:spLocks noGrp="1"/>
          </p:cNvSpPr>
          <p:nvPr>
            <p:ph type="ftr" sz="quarter" idx="11"/>
          </p:nvPr>
        </p:nvSpPr>
        <p:spPr/>
        <p:txBody>
          <a:bodyPr/>
          <a:lstStyle/>
          <a:p>
            <a:r>
              <a:rPr lang="en-US"/>
              <a:t>by Zoltan Pap © December 25, 2025</a:t>
            </a:r>
          </a:p>
        </p:txBody>
      </p:sp>
      <p:sp>
        <p:nvSpPr>
          <p:cNvPr id="5" name="Slide Number Placeholder 4">
            <a:extLst>
              <a:ext uri="{FF2B5EF4-FFF2-40B4-BE49-F238E27FC236}">
                <a16:creationId xmlns:a16="http://schemas.microsoft.com/office/drawing/2014/main" id="{41DC3B8C-BCC4-EF27-DE59-EACB0D30A9DC}"/>
              </a:ext>
            </a:extLst>
          </p:cNvPr>
          <p:cNvSpPr>
            <a:spLocks noGrp="1"/>
          </p:cNvSpPr>
          <p:nvPr>
            <p:ph type="sldNum" sz="quarter" idx="12"/>
          </p:nvPr>
        </p:nvSpPr>
        <p:spPr/>
        <p:txBody>
          <a:bodyPr/>
          <a:lstStyle/>
          <a:p>
            <a:fld id="{370C4C9F-8A31-E842-93B0-ED7A4CC0BB5A}" type="slidenum">
              <a:rPr lang="en-US" smtClean="0"/>
              <a:t>‹#›</a:t>
            </a:fld>
            <a:endParaRPr lang="en-US"/>
          </a:p>
        </p:txBody>
      </p:sp>
    </p:spTree>
    <p:extLst>
      <p:ext uri="{BB962C8B-B14F-4D97-AF65-F5344CB8AC3E}">
        <p14:creationId xmlns:p14="http://schemas.microsoft.com/office/powerpoint/2010/main" val="702095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74CFE1-BA75-B78A-6D11-7B443B3FD9A3}"/>
              </a:ext>
            </a:extLst>
          </p:cNvPr>
          <p:cNvSpPr>
            <a:spLocks noGrp="1"/>
          </p:cNvSpPr>
          <p:nvPr>
            <p:ph type="dt" sz="half" idx="10"/>
          </p:nvPr>
        </p:nvSpPr>
        <p:spPr/>
        <p:txBody>
          <a:bodyPr/>
          <a:lstStyle/>
          <a:p>
            <a:fld id="{03CAB7A2-F469-DD4B-81A4-77753CCAB090}" type="datetime1">
              <a:rPr lang="en-US" smtClean="0"/>
              <a:t>12/31/25</a:t>
            </a:fld>
            <a:endParaRPr lang="en-US"/>
          </a:p>
        </p:txBody>
      </p:sp>
      <p:sp>
        <p:nvSpPr>
          <p:cNvPr id="3" name="Footer Placeholder 2">
            <a:extLst>
              <a:ext uri="{FF2B5EF4-FFF2-40B4-BE49-F238E27FC236}">
                <a16:creationId xmlns:a16="http://schemas.microsoft.com/office/drawing/2014/main" id="{C34FD338-D219-DD6F-BBB6-F8F66C3D15F6}"/>
              </a:ext>
            </a:extLst>
          </p:cNvPr>
          <p:cNvSpPr>
            <a:spLocks noGrp="1"/>
          </p:cNvSpPr>
          <p:nvPr>
            <p:ph type="ftr" sz="quarter" idx="11"/>
          </p:nvPr>
        </p:nvSpPr>
        <p:spPr/>
        <p:txBody>
          <a:bodyPr/>
          <a:lstStyle/>
          <a:p>
            <a:r>
              <a:rPr lang="en-US"/>
              <a:t>by Zoltan Pap © December 25, 2025</a:t>
            </a:r>
          </a:p>
        </p:txBody>
      </p:sp>
      <p:sp>
        <p:nvSpPr>
          <p:cNvPr id="4" name="Slide Number Placeholder 3">
            <a:extLst>
              <a:ext uri="{FF2B5EF4-FFF2-40B4-BE49-F238E27FC236}">
                <a16:creationId xmlns:a16="http://schemas.microsoft.com/office/drawing/2014/main" id="{BB48CCAD-4E92-E479-8C97-4C9804B6E830}"/>
              </a:ext>
            </a:extLst>
          </p:cNvPr>
          <p:cNvSpPr>
            <a:spLocks noGrp="1"/>
          </p:cNvSpPr>
          <p:nvPr>
            <p:ph type="sldNum" sz="quarter" idx="12"/>
          </p:nvPr>
        </p:nvSpPr>
        <p:spPr/>
        <p:txBody>
          <a:bodyPr/>
          <a:lstStyle/>
          <a:p>
            <a:fld id="{370C4C9F-8A31-E842-93B0-ED7A4CC0BB5A}" type="slidenum">
              <a:rPr lang="en-US" smtClean="0"/>
              <a:t>‹#›</a:t>
            </a:fld>
            <a:endParaRPr lang="en-US"/>
          </a:p>
        </p:txBody>
      </p:sp>
    </p:spTree>
    <p:extLst>
      <p:ext uri="{BB962C8B-B14F-4D97-AF65-F5344CB8AC3E}">
        <p14:creationId xmlns:p14="http://schemas.microsoft.com/office/powerpoint/2010/main" val="2253838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CD18A-322E-DB56-1F77-3AC24F0346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17943F-9AC4-DC18-CCE0-EB2856CF72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2B13FC3-B9F4-FDF0-3FE6-B7D67123DE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1A27C9-B300-96FF-F8B8-B80B25568C1C}"/>
              </a:ext>
            </a:extLst>
          </p:cNvPr>
          <p:cNvSpPr>
            <a:spLocks noGrp="1"/>
          </p:cNvSpPr>
          <p:nvPr>
            <p:ph type="dt" sz="half" idx="10"/>
          </p:nvPr>
        </p:nvSpPr>
        <p:spPr/>
        <p:txBody>
          <a:bodyPr/>
          <a:lstStyle/>
          <a:p>
            <a:fld id="{0E8BC6DA-1946-894A-B06A-7EA877706769}" type="datetime1">
              <a:rPr lang="en-US" smtClean="0"/>
              <a:t>12/31/25</a:t>
            </a:fld>
            <a:endParaRPr lang="en-US"/>
          </a:p>
        </p:txBody>
      </p:sp>
      <p:sp>
        <p:nvSpPr>
          <p:cNvPr id="6" name="Footer Placeholder 5">
            <a:extLst>
              <a:ext uri="{FF2B5EF4-FFF2-40B4-BE49-F238E27FC236}">
                <a16:creationId xmlns:a16="http://schemas.microsoft.com/office/drawing/2014/main" id="{C0293519-4784-8185-906A-A1ACD451700A}"/>
              </a:ext>
            </a:extLst>
          </p:cNvPr>
          <p:cNvSpPr>
            <a:spLocks noGrp="1"/>
          </p:cNvSpPr>
          <p:nvPr>
            <p:ph type="ftr" sz="quarter" idx="11"/>
          </p:nvPr>
        </p:nvSpPr>
        <p:spPr/>
        <p:txBody>
          <a:bodyPr/>
          <a:lstStyle/>
          <a:p>
            <a:r>
              <a:rPr lang="en-US"/>
              <a:t>by Zoltan Pap © December 25, 2025</a:t>
            </a:r>
          </a:p>
        </p:txBody>
      </p:sp>
      <p:sp>
        <p:nvSpPr>
          <p:cNvPr id="7" name="Slide Number Placeholder 6">
            <a:extLst>
              <a:ext uri="{FF2B5EF4-FFF2-40B4-BE49-F238E27FC236}">
                <a16:creationId xmlns:a16="http://schemas.microsoft.com/office/drawing/2014/main" id="{C3DAA6D7-79E7-3956-A370-086BCA3C1C6F}"/>
              </a:ext>
            </a:extLst>
          </p:cNvPr>
          <p:cNvSpPr>
            <a:spLocks noGrp="1"/>
          </p:cNvSpPr>
          <p:nvPr>
            <p:ph type="sldNum" sz="quarter" idx="12"/>
          </p:nvPr>
        </p:nvSpPr>
        <p:spPr/>
        <p:txBody>
          <a:bodyPr/>
          <a:lstStyle/>
          <a:p>
            <a:fld id="{370C4C9F-8A31-E842-93B0-ED7A4CC0BB5A}" type="slidenum">
              <a:rPr lang="en-US" smtClean="0"/>
              <a:t>‹#›</a:t>
            </a:fld>
            <a:endParaRPr lang="en-US"/>
          </a:p>
        </p:txBody>
      </p:sp>
    </p:spTree>
    <p:extLst>
      <p:ext uri="{BB962C8B-B14F-4D97-AF65-F5344CB8AC3E}">
        <p14:creationId xmlns:p14="http://schemas.microsoft.com/office/powerpoint/2010/main" val="3690222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ED62B-CDDA-9D71-AEAD-599FE43F6A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4DDBAF-FE95-CF3C-03B3-89F389053A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028520A-638F-5D79-448A-B841138E66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B92ED4-25D3-0957-C45D-353C52CF86FA}"/>
              </a:ext>
            </a:extLst>
          </p:cNvPr>
          <p:cNvSpPr>
            <a:spLocks noGrp="1"/>
          </p:cNvSpPr>
          <p:nvPr>
            <p:ph type="dt" sz="half" idx="10"/>
          </p:nvPr>
        </p:nvSpPr>
        <p:spPr/>
        <p:txBody>
          <a:bodyPr/>
          <a:lstStyle/>
          <a:p>
            <a:fld id="{1E6804DE-9CAC-0244-8188-2327A03A924E}" type="datetime1">
              <a:rPr lang="en-US" smtClean="0"/>
              <a:t>12/31/25</a:t>
            </a:fld>
            <a:endParaRPr lang="en-US"/>
          </a:p>
        </p:txBody>
      </p:sp>
      <p:sp>
        <p:nvSpPr>
          <p:cNvPr id="6" name="Footer Placeholder 5">
            <a:extLst>
              <a:ext uri="{FF2B5EF4-FFF2-40B4-BE49-F238E27FC236}">
                <a16:creationId xmlns:a16="http://schemas.microsoft.com/office/drawing/2014/main" id="{FC3D50D8-2637-CA79-9886-7A2518200966}"/>
              </a:ext>
            </a:extLst>
          </p:cNvPr>
          <p:cNvSpPr>
            <a:spLocks noGrp="1"/>
          </p:cNvSpPr>
          <p:nvPr>
            <p:ph type="ftr" sz="quarter" idx="11"/>
          </p:nvPr>
        </p:nvSpPr>
        <p:spPr/>
        <p:txBody>
          <a:bodyPr/>
          <a:lstStyle/>
          <a:p>
            <a:r>
              <a:rPr lang="en-US"/>
              <a:t>by Zoltan Pap © December 25, 2025</a:t>
            </a:r>
          </a:p>
        </p:txBody>
      </p:sp>
      <p:sp>
        <p:nvSpPr>
          <p:cNvPr id="7" name="Slide Number Placeholder 6">
            <a:extLst>
              <a:ext uri="{FF2B5EF4-FFF2-40B4-BE49-F238E27FC236}">
                <a16:creationId xmlns:a16="http://schemas.microsoft.com/office/drawing/2014/main" id="{EB134F0B-741E-7F13-51A2-EB4F8363BD18}"/>
              </a:ext>
            </a:extLst>
          </p:cNvPr>
          <p:cNvSpPr>
            <a:spLocks noGrp="1"/>
          </p:cNvSpPr>
          <p:nvPr>
            <p:ph type="sldNum" sz="quarter" idx="12"/>
          </p:nvPr>
        </p:nvSpPr>
        <p:spPr/>
        <p:txBody>
          <a:bodyPr/>
          <a:lstStyle/>
          <a:p>
            <a:fld id="{370C4C9F-8A31-E842-93B0-ED7A4CC0BB5A}" type="slidenum">
              <a:rPr lang="en-US" smtClean="0"/>
              <a:t>‹#›</a:t>
            </a:fld>
            <a:endParaRPr lang="en-US"/>
          </a:p>
        </p:txBody>
      </p:sp>
    </p:spTree>
    <p:extLst>
      <p:ext uri="{BB962C8B-B14F-4D97-AF65-F5344CB8AC3E}">
        <p14:creationId xmlns:p14="http://schemas.microsoft.com/office/powerpoint/2010/main" val="1348761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D8B2B-1B61-605B-95B6-6E0061D7621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67D47B0-E8A7-D748-2570-01915BB01D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70BF30-BB30-94A7-1D42-41DF94B205CD}"/>
              </a:ext>
            </a:extLst>
          </p:cNvPr>
          <p:cNvSpPr>
            <a:spLocks noGrp="1"/>
          </p:cNvSpPr>
          <p:nvPr>
            <p:ph type="dt" sz="half" idx="10"/>
          </p:nvPr>
        </p:nvSpPr>
        <p:spPr/>
        <p:txBody>
          <a:bodyPr/>
          <a:lstStyle/>
          <a:p>
            <a:fld id="{EEC4AE05-5884-294D-944D-C07FB1BE9F9C}" type="datetime1">
              <a:rPr lang="en-US" smtClean="0"/>
              <a:t>12/31/25</a:t>
            </a:fld>
            <a:endParaRPr lang="en-US"/>
          </a:p>
        </p:txBody>
      </p:sp>
      <p:sp>
        <p:nvSpPr>
          <p:cNvPr id="5" name="Footer Placeholder 4">
            <a:extLst>
              <a:ext uri="{FF2B5EF4-FFF2-40B4-BE49-F238E27FC236}">
                <a16:creationId xmlns:a16="http://schemas.microsoft.com/office/drawing/2014/main" id="{0F755D31-6BB6-FA45-5230-34E244C48760}"/>
              </a:ext>
            </a:extLst>
          </p:cNvPr>
          <p:cNvSpPr>
            <a:spLocks noGrp="1"/>
          </p:cNvSpPr>
          <p:nvPr>
            <p:ph type="ftr" sz="quarter" idx="11"/>
          </p:nvPr>
        </p:nvSpPr>
        <p:spPr/>
        <p:txBody>
          <a:bodyPr/>
          <a:lstStyle/>
          <a:p>
            <a:r>
              <a:rPr lang="en-US"/>
              <a:t>by Zoltan Pap © December 25, 2025</a:t>
            </a:r>
          </a:p>
        </p:txBody>
      </p:sp>
      <p:sp>
        <p:nvSpPr>
          <p:cNvPr id="6" name="Slide Number Placeholder 5">
            <a:extLst>
              <a:ext uri="{FF2B5EF4-FFF2-40B4-BE49-F238E27FC236}">
                <a16:creationId xmlns:a16="http://schemas.microsoft.com/office/drawing/2014/main" id="{CCB8ADFB-09E1-B9DB-E414-369B75B30669}"/>
              </a:ext>
            </a:extLst>
          </p:cNvPr>
          <p:cNvSpPr>
            <a:spLocks noGrp="1"/>
          </p:cNvSpPr>
          <p:nvPr>
            <p:ph type="sldNum" sz="quarter" idx="12"/>
          </p:nvPr>
        </p:nvSpPr>
        <p:spPr/>
        <p:txBody>
          <a:bodyPr/>
          <a:lstStyle/>
          <a:p>
            <a:fld id="{370C4C9F-8A31-E842-93B0-ED7A4CC0BB5A}" type="slidenum">
              <a:rPr lang="en-US" smtClean="0"/>
              <a:t>‹#›</a:t>
            </a:fld>
            <a:endParaRPr lang="en-US"/>
          </a:p>
        </p:txBody>
      </p:sp>
    </p:spTree>
    <p:extLst>
      <p:ext uri="{BB962C8B-B14F-4D97-AF65-F5344CB8AC3E}">
        <p14:creationId xmlns:p14="http://schemas.microsoft.com/office/powerpoint/2010/main" val="1813127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26E335-34F4-0022-A911-FDB04B8022D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B89AECA-B6F8-CF69-91C3-7CA33AE671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70BD32-1015-C59E-3F37-AFC86A9A23CE}"/>
              </a:ext>
            </a:extLst>
          </p:cNvPr>
          <p:cNvSpPr>
            <a:spLocks noGrp="1"/>
          </p:cNvSpPr>
          <p:nvPr>
            <p:ph type="dt" sz="half" idx="10"/>
          </p:nvPr>
        </p:nvSpPr>
        <p:spPr/>
        <p:txBody>
          <a:bodyPr/>
          <a:lstStyle/>
          <a:p>
            <a:fld id="{650C846C-492E-D44C-8FE0-95194AF1118E}" type="datetime1">
              <a:rPr lang="en-US" smtClean="0"/>
              <a:t>12/31/25</a:t>
            </a:fld>
            <a:endParaRPr lang="en-US"/>
          </a:p>
        </p:txBody>
      </p:sp>
      <p:sp>
        <p:nvSpPr>
          <p:cNvPr id="5" name="Footer Placeholder 4">
            <a:extLst>
              <a:ext uri="{FF2B5EF4-FFF2-40B4-BE49-F238E27FC236}">
                <a16:creationId xmlns:a16="http://schemas.microsoft.com/office/drawing/2014/main" id="{E0555BDF-A9C5-7586-AF68-6455E4E8D5B7}"/>
              </a:ext>
            </a:extLst>
          </p:cNvPr>
          <p:cNvSpPr>
            <a:spLocks noGrp="1"/>
          </p:cNvSpPr>
          <p:nvPr>
            <p:ph type="ftr" sz="quarter" idx="11"/>
          </p:nvPr>
        </p:nvSpPr>
        <p:spPr/>
        <p:txBody>
          <a:bodyPr/>
          <a:lstStyle/>
          <a:p>
            <a:r>
              <a:rPr lang="en-US"/>
              <a:t>by Zoltan Pap © December 25, 2025</a:t>
            </a:r>
          </a:p>
        </p:txBody>
      </p:sp>
      <p:sp>
        <p:nvSpPr>
          <p:cNvPr id="6" name="Slide Number Placeholder 5">
            <a:extLst>
              <a:ext uri="{FF2B5EF4-FFF2-40B4-BE49-F238E27FC236}">
                <a16:creationId xmlns:a16="http://schemas.microsoft.com/office/drawing/2014/main" id="{BB430F2C-0404-7C57-6703-2E05D5EEF6DC}"/>
              </a:ext>
            </a:extLst>
          </p:cNvPr>
          <p:cNvSpPr>
            <a:spLocks noGrp="1"/>
          </p:cNvSpPr>
          <p:nvPr>
            <p:ph type="sldNum" sz="quarter" idx="12"/>
          </p:nvPr>
        </p:nvSpPr>
        <p:spPr/>
        <p:txBody>
          <a:bodyPr/>
          <a:lstStyle/>
          <a:p>
            <a:fld id="{370C4C9F-8A31-E842-93B0-ED7A4CC0BB5A}" type="slidenum">
              <a:rPr lang="en-US" smtClean="0"/>
              <a:t>‹#›</a:t>
            </a:fld>
            <a:endParaRPr lang="en-US"/>
          </a:p>
        </p:txBody>
      </p:sp>
    </p:spTree>
    <p:extLst>
      <p:ext uri="{BB962C8B-B14F-4D97-AF65-F5344CB8AC3E}">
        <p14:creationId xmlns:p14="http://schemas.microsoft.com/office/powerpoint/2010/main" val="2504870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25A134-B04A-16A5-5C9A-D3ED8C8089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FBE4A02-E73A-31FA-4AED-A3C566BD16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CE90D2-F544-0836-ACA9-179D31556F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E9FC84-B8CB-EB45-9D6F-1D712B4BCFD3}" type="datetime1">
              <a:rPr lang="en-US" smtClean="0"/>
              <a:t>12/31/25</a:t>
            </a:fld>
            <a:endParaRPr lang="en-US"/>
          </a:p>
        </p:txBody>
      </p:sp>
      <p:sp>
        <p:nvSpPr>
          <p:cNvPr id="5" name="Footer Placeholder 4">
            <a:extLst>
              <a:ext uri="{FF2B5EF4-FFF2-40B4-BE49-F238E27FC236}">
                <a16:creationId xmlns:a16="http://schemas.microsoft.com/office/drawing/2014/main" id="{E3B46233-8915-3FF0-7FCD-17957C9F27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by Zoltan Pap © December 25, 2025</a:t>
            </a:r>
          </a:p>
        </p:txBody>
      </p:sp>
      <p:sp>
        <p:nvSpPr>
          <p:cNvPr id="6" name="Slide Number Placeholder 5">
            <a:extLst>
              <a:ext uri="{FF2B5EF4-FFF2-40B4-BE49-F238E27FC236}">
                <a16:creationId xmlns:a16="http://schemas.microsoft.com/office/drawing/2014/main" id="{475DBB89-79D5-316D-E0B3-04BE8EF67A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0C4C9F-8A31-E842-93B0-ED7A4CC0BB5A}" type="slidenum">
              <a:rPr lang="en-US" smtClean="0"/>
              <a:t>‹#›</a:t>
            </a:fld>
            <a:endParaRPr lang="en-US"/>
          </a:p>
        </p:txBody>
      </p:sp>
    </p:spTree>
    <p:extLst>
      <p:ext uri="{BB962C8B-B14F-4D97-AF65-F5344CB8AC3E}">
        <p14:creationId xmlns:p14="http://schemas.microsoft.com/office/powerpoint/2010/main" val="22567616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bin"/><Relationship Id="rId7" Type="http://schemas.openxmlformats.org/officeDocument/2006/relationships/image" Target="../media/image7.bin"/><Relationship Id="rId2" Type="http://schemas.openxmlformats.org/officeDocument/2006/relationships/image" Target="../media/image2.bin"/><Relationship Id="rId1" Type="http://schemas.openxmlformats.org/officeDocument/2006/relationships/slideLayout" Target="../slideLayouts/slideLayout7.xml"/><Relationship Id="rId6" Type="http://schemas.openxmlformats.org/officeDocument/2006/relationships/image" Target="../media/image6.bin"/><Relationship Id="rId5" Type="http://schemas.openxmlformats.org/officeDocument/2006/relationships/image" Target="../media/image5.bin"/><Relationship Id="rId4" Type="http://schemas.openxmlformats.org/officeDocument/2006/relationships/image" Target="../media/image4.bin"/></Relationships>
</file>

<file path=ppt/slides/_rels/slide3.xml.rels><?xml version="1.0" encoding="UTF-8" standalone="yes"?>
<Relationships xmlns="http://schemas.openxmlformats.org/package/2006/relationships"><Relationship Id="rId3" Type="http://schemas.openxmlformats.org/officeDocument/2006/relationships/image" Target="../media/image8.bin"/><Relationship Id="rId34" Type="http://schemas.openxmlformats.org/officeDocument/2006/relationships/image" Target="../media/image13.bin"/><Relationship Id="rId33" Type="http://schemas.openxmlformats.org/officeDocument/2006/relationships/image" Target="../media/image12.bin"/><Relationship Id="rId2" Type="http://schemas.openxmlformats.org/officeDocument/2006/relationships/image" Target="../media/image2.bin"/><Relationship Id="rId41" Type="http://schemas.openxmlformats.org/officeDocument/2006/relationships/image" Target="../media/image16.bin"/><Relationship Id="rId1" Type="http://schemas.openxmlformats.org/officeDocument/2006/relationships/slideLayout" Target="../slideLayouts/slideLayout7.xml"/><Relationship Id="rId32" Type="http://schemas.openxmlformats.org/officeDocument/2006/relationships/image" Target="../media/image110.bin"/><Relationship Id="rId5" Type="http://schemas.openxmlformats.org/officeDocument/2006/relationships/image" Target="../media/image10.bin"/><Relationship Id="rId28" Type="http://schemas.openxmlformats.org/officeDocument/2006/relationships/image" Target="../media/image11.bin"/><Relationship Id="rId4" Type="http://schemas.openxmlformats.org/officeDocument/2006/relationships/image" Target="../media/image9.bin"/><Relationship Id="rId27" Type="http://schemas.openxmlformats.org/officeDocument/2006/relationships/image" Target="../media/image80.bin"/></Relationships>
</file>

<file path=ppt/slides/_rels/slide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5" Type="http://schemas.openxmlformats.org/officeDocument/2006/relationships/image" Target="../media/image22.bin"/><Relationship Id="rId3" Type="http://schemas.openxmlformats.org/officeDocument/2006/relationships/image" Target="../media/image15.bin"/><Relationship Id="rId84" Type="http://schemas.openxmlformats.org/officeDocument/2006/relationships/image" Target="../media/image21.bin"/><Relationship Id="rId2" Type="http://schemas.openxmlformats.org/officeDocument/2006/relationships/image" Target="../media/image2.bin"/><Relationship Id="rId83" Type="http://schemas.openxmlformats.org/officeDocument/2006/relationships/image" Target="../media/image37.bin"/><Relationship Id="rId1" Type="http://schemas.openxmlformats.org/officeDocument/2006/relationships/slideLayout" Target="../slideLayouts/slideLayout7.xml"/><Relationship Id="rId6" Type="http://schemas.openxmlformats.org/officeDocument/2006/relationships/image" Target="../media/image19.bin"/><Relationship Id="rId79" Type="http://schemas.openxmlformats.org/officeDocument/2006/relationships/image" Target="../media/image20.bin"/><Relationship Id="rId5" Type="http://schemas.openxmlformats.org/officeDocument/2006/relationships/image" Target="../media/image18.bin"/><Relationship Id="rId78" Type="http://schemas.openxmlformats.org/officeDocument/2006/relationships/image" Target="../media/image34.bin"/><Relationship Id="rId4" Type="http://schemas.openxmlformats.org/officeDocument/2006/relationships/image" Target="../media/image17.bin"/></Relationships>
</file>

<file path=ppt/slides/_rels/slide6.xml.rels><?xml version="1.0" encoding="UTF-8" standalone="yes"?>
<Relationships xmlns="http://schemas.openxmlformats.org/package/2006/relationships"><Relationship Id="rId3" Type="http://schemas.openxmlformats.org/officeDocument/2006/relationships/image" Target="../media/image23.bin"/><Relationship Id="rId2" Type="http://schemas.openxmlformats.org/officeDocument/2006/relationships/image" Target="../media/image2.bin"/><Relationship Id="rId1" Type="http://schemas.openxmlformats.org/officeDocument/2006/relationships/slideLayout" Target="../slideLayouts/slideLayout7.xml"/><Relationship Id="rId4" Type="http://schemas.openxmlformats.org/officeDocument/2006/relationships/image" Target="../media/image24.bin"/></Relationships>
</file>

<file path=ppt/slides/_rels/slide7.xml.rels><?xml version="1.0" encoding="UTF-8" standalone="yes"?>
<Relationships xmlns="http://schemas.openxmlformats.org/package/2006/relationships"><Relationship Id="rId8" Type="http://schemas.openxmlformats.org/officeDocument/2006/relationships/image" Target="../media/image30.bin"/><Relationship Id="rId3" Type="http://schemas.openxmlformats.org/officeDocument/2006/relationships/image" Target="../media/image25.bin"/><Relationship Id="rId7" Type="http://schemas.openxmlformats.org/officeDocument/2006/relationships/image" Target="../media/image29.bin"/><Relationship Id="rId2" Type="http://schemas.openxmlformats.org/officeDocument/2006/relationships/image" Target="../media/image2.bin"/><Relationship Id="rId1" Type="http://schemas.openxmlformats.org/officeDocument/2006/relationships/slideLayout" Target="../slideLayouts/slideLayout7.xml"/><Relationship Id="rId6" Type="http://schemas.openxmlformats.org/officeDocument/2006/relationships/image" Target="../media/image28.bin"/><Relationship Id="rId5" Type="http://schemas.openxmlformats.org/officeDocument/2006/relationships/image" Target="../media/image27.bin"/><Relationship Id="rId4" Type="http://schemas.openxmlformats.org/officeDocument/2006/relationships/image" Target="../media/image26.bin"/></Relationships>
</file>

<file path=ppt/slides/_rels/slide8.xml.rels><?xml version="1.0" encoding="UTF-8" standalone="yes"?>
<Relationships xmlns="http://schemas.openxmlformats.org/package/2006/relationships"><Relationship Id="rId3" Type="http://schemas.openxmlformats.org/officeDocument/2006/relationships/image" Target="../media/image25.bin"/><Relationship Id="rId7" Type="http://schemas.openxmlformats.org/officeDocument/2006/relationships/image" Target="../media/image30.bin"/><Relationship Id="rId2" Type="http://schemas.openxmlformats.org/officeDocument/2006/relationships/image" Target="../media/image2.bin"/><Relationship Id="rId1" Type="http://schemas.openxmlformats.org/officeDocument/2006/relationships/slideLayout" Target="../slideLayouts/slideLayout7.xml"/><Relationship Id="rId6" Type="http://schemas.openxmlformats.org/officeDocument/2006/relationships/image" Target="../media/image31.bin"/><Relationship Id="rId5" Type="http://schemas.openxmlformats.org/officeDocument/2006/relationships/image" Target="../media/image27.bin"/><Relationship Id="rId4" Type="http://schemas.openxmlformats.org/officeDocument/2006/relationships/image" Target="../media/image26.bin"/></Relationships>
</file>

<file path=ppt/slides/_rels/slide9.xml.rels><?xml version="1.0" encoding="UTF-8" standalone="yes"?>
<Relationships xmlns="http://schemas.openxmlformats.org/package/2006/relationships"><Relationship Id="rId85" Type="http://schemas.openxmlformats.org/officeDocument/2006/relationships/image" Target="../media/image36.bin"/><Relationship Id="rId93" Type="http://schemas.openxmlformats.org/officeDocument/2006/relationships/image" Target="../media/image41.bin"/><Relationship Id="rId3" Type="http://schemas.openxmlformats.org/officeDocument/2006/relationships/image" Target="../media/image25.bin"/><Relationship Id="rId84" Type="http://schemas.openxmlformats.org/officeDocument/2006/relationships/image" Target="../media/image350.bin"/><Relationship Id="rId2" Type="http://schemas.openxmlformats.org/officeDocument/2006/relationships/image" Target="../media/image2.bin"/><Relationship Id="rId88" Type="http://schemas.openxmlformats.org/officeDocument/2006/relationships/image" Target="../media/image38.bin"/><Relationship Id="rId91" Type="http://schemas.openxmlformats.org/officeDocument/2006/relationships/image" Target="../media/image40.bin"/><Relationship Id="rId1" Type="http://schemas.openxmlformats.org/officeDocument/2006/relationships/slideLayout" Target="../slideLayouts/slideLayout7.xml"/><Relationship Id="rId6" Type="http://schemas.openxmlformats.org/officeDocument/2006/relationships/image" Target="../media/image32.bin"/><Relationship Id="rId87" Type="http://schemas.openxmlformats.org/officeDocument/2006/relationships/image" Target="../media/image370.bin"/><Relationship Id="rId5" Type="http://schemas.openxmlformats.org/officeDocument/2006/relationships/image" Target="../media/image27.bin"/><Relationship Id="rId82" Type="http://schemas.openxmlformats.org/officeDocument/2006/relationships/image" Target="../media/image35.bin"/><Relationship Id="rId90" Type="http://schemas.openxmlformats.org/officeDocument/2006/relationships/image" Target="../media/image39.bin"/><Relationship Id="rId81" Type="http://schemas.openxmlformats.org/officeDocument/2006/relationships/image" Target="../media/image33.bin"/><Relationship Id="rId4" Type="http://schemas.openxmlformats.org/officeDocument/2006/relationships/image" Target="../media/image26.bin"/></Relationships>
</file>

<file path=ppt/slides/_rels/slide10.xml.rels><?xml version="1.0" encoding="UTF-8" standalone="yes"?>
<Relationships xmlns="http://schemas.openxmlformats.org/package/2006/relationships"><Relationship Id="rId8" Type="http://schemas.openxmlformats.org/officeDocument/2006/relationships/image" Target="../media/image46.bin"/><Relationship Id="rId121" Type="http://schemas.openxmlformats.org/officeDocument/2006/relationships/image" Target="../media/image51.bin"/><Relationship Id="rId3" Type="http://schemas.openxmlformats.org/officeDocument/2006/relationships/image" Target="../media/image25.bin"/><Relationship Id="rId112" Type="http://schemas.openxmlformats.org/officeDocument/2006/relationships/image" Target="../media/image50.bin"/><Relationship Id="rId120" Type="http://schemas.openxmlformats.org/officeDocument/2006/relationships/image" Target="../media/image49.bin"/><Relationship Id="rId133" Type="http://schemas.openxmlformats.org/officeDocument/2006/relationships/image" Target="../media/image52.bin"/><Relationship Id="rId138" Type="http://schemas.openxmlformats.org/officeDocument/2006/relationships/image" Target="../media/image53.bin"/><Relationship Id="rId7" Type="http://schemas.openxmlformats.org/officeDocument/2006/relationships/image" Target="../media/image45.bin"/><Relationship Id="rId137" Type="http://schemas.openxmlformats.org/officeDocument/2006/relationships/image" Target="../media/image64.bin"/><Relationship Id="rId2" Type="http://schemas.openxmlformats.org/officeDocument/2006/relationships/image" Target="../media/image2.bin"/><Relationship Id="rId132" Type="http://schemas.openxmlformats.org/officeDocument/2006/relationships/image" Target="../media/image61.bin"/><Relationship Id="rId1" Type="http://schemas.openxmlformats.org/officeDocument/2006/relationships/slideLayout" Target="../slideLayouts/slideLayout7.xml"/><Relationship Id="rId6" Type="http://schemas.openxmlformats.org/officeDocument/2006/relationships/image" Target="../media/image44.bin"/><Relationship Id="rId5" Type="http://schemas.openxmlformats.org/officeDocument/2006/relationships/image" Target="../media/image43.bin"/><Relationship Id="rId119" Type="http://schemas.openxmlformats.org/officeDocument/2006/relationships/image" Target="../media/image54.bin"/><Relationship Id="rId4" Type="http://schemas.openxmlformats.org/officeDocument/2006/relationships/image" Target="../media/image42.bin"/><Relationship Id="rId9" Type="http://schemas.openxmlformats.org/officeDocument/2006/relationships/image" Target="../media/image47.bin"/><Relationship Id="rId113" Type="http://schemas.openxmlformats.org/officeDocument/2006/relationships/image" Target="../media/image48.bin"/></Relationships>
</file>

<file path=ppt/slides/_rels/slide11.xml.rels><?xml version="1.0" encoding="UTF-8" standalone="yes"?>
<Relationships xmlns="http://schemas.openxmlformats.org/package/2006/relationships"><Relationship Id="rId3" Type="http://schemas.openxmlformats.org/officeDocument/2006/relationships/image" Target="../media/image25.bin"/><Relationship Id="rId2" Type="http://schemas.openxmlformats.org/officeDocument/2006/relationships/image" Target="../media/image2.bin"/><Relationship Id="rId1" Type="http://schemas.openxmlformats.org/officeDocument/2006/relationships/slideLayout" Target="../slideLayouts/slideLayout7.xml"/><Relationship Id="rId6" Type="http://schemas.openxmlformats.org/officeDocument/2006/relationships/image" Target="../media/image55.bin"/><Relationship Id="rId5" Type="http://schemas.openxmlformats.org/officeDocument/2006/relationships/image" Target="../media/image27.bin"/><Relationship Id="rId4" Type="http://schemas.openxmlformats.org/officeDocument/2006/relationships/image" Target="../media/image26.bin"/></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Network Technology Background">
            <a:extLst>
              <a:ext uri="{FF2B5EF4-FFF2-40B4-BE49-F238E27FC236}">
                <a16:creationId xmlns:a16="http://schemas.microsoft.com/office/drawing/2014/main" id="{8ECFBA5F-BA5D-DEE0-E84C-BA8C4C76F611}"/>
              </a:ext>
            </a:extLst>
          </p:cNvPr>
          <p:cNvPicPr>
            <a:picLocks noChangeAspect="1"/>
          </p:cNvPicPr>
          <p:nvPr/>
        </p:nvPicPr>
        <p:blipFill>
          <a:blip r:embed="rId2"/>
          <a:srcRect b="3434"/>
          <a:stretch>
            <a:fillRect/>
          </a:stretch>
        </p:blipFill>
        <p:spPr>
          <a:xfrm>
            <a:off x="1" y="0"/>
            <a:ext cx="12191999" cy="6857990"/>
          </a:xfrm>
          <a:prstGeom prst="rect">
            <a:avLst/>
          </a:prstGeom>
        </p:spPr>
      </p:pic>
      <p:sp>
        <p:nvSpPr>
          <p:cNvPr id="10" name="Rectangle 9">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0DE511-99FA-98A3-4119-50EDF8528562}"/>
              </a:ext>
            </a:extLst>
          </p:cNvPr>
          <p:cNvSpPr>
            <a:spLocks noGrp="1"/>
          </p:cNvSpPr>
          <p:nvPr>
            <p:ph type="title"/>
          </p:nvPr>
        </p:nvSpPr>
        <p:spPr>
          <a:xfrm>
            <a:off x="0" y="1307738"/>
            <a:ext cx="10058400" cy="4242523"/>
          </a:xfrm>
          <a:effectLst>
            <a:outerShdw blurRad="50800" dist="38100" dir="2700000" algn="tl" rotWithShape="0">
              <a:prstClr val="black">
                <a:alpha val="40000"/>
              </a:prstClr>
            </a:outerShdw>
          </a:effectLst>
        </p:spPr>
        <p:txBody>
          <a:bodyPr vert="horz" lIns="91440" tIns="45720" rIns="91440" bIns="45720" rtlCol="0" anchor="b">
            <a:normAutofit fontScale="90000"/>
          </a:bodyPr>
          <a:lstStyle/>
          <a:p>
            <a:pPr algn="ctr"/>
            <a:r>
              <a:rPr lang="en-US" sz="4000" dirty="0">
                <a:solidFill>
                  <a:srgbClr val="FFFFFF"/>
                </a:solidFill>
              </a:rPr>
              <a:t>Sovereign Data,</a:t>
            </a:r>
            <a:br>
              <a:rPr lang="en-US" sz="4000" dirty="0">
                <a:solidFill>
                  <a:srgbClr val="FFFFFF"/>
                </a:solidFill>
              </a:rPr>
            </a:br>
            <a:r>
              <a:rPr lang="en-US" sz="4000" dirty="0">
                <a:solidFill>
                  <a:srgbClr val="FFFFFF"/>
                </a:solidFill>
              </a:rPr>
              <a:t>Sovereign AI,</a:t>
            </a:r>
            <a:br>
              <a:rPr lang="en-US" sz="4000" dirty="0">
                <a:solidFill>
                  <a:srgbClr val="FFFFFF"/>
                </a:solidFill>
              </a:rPr>
            </a:br>
            <a:r>
              <a:rPr lang="en-US" sz="4000" dirty="0">
                <a:solidFill>
                  <a:srgbClr val="FFFFFF"/>
                </a:solidFill>
              </a:rPr>
              <a:t>Value-Based AI Programming</a:t>
            </a:r>
            <a:br>
              <a:rPr lang="en-US" sz="4000" dirty="0">
                <a:solidFill>
                  <a:srgbClr val="FFFFFF"/>
                </a:solidFill>
              </a:rPr>
            </a:br>
            <a:br>
              <a:rPr lang="en-US" sz="4000" dirty="0">
                <a:solidFill>
                  <a:srgbClr val="FFFFFF"/>
                </a:solidFill>
              </a:rPr>
            </a:br>
            <a:r>
              <a:rPr lang="en-US" sz="4000" dirty="0">
                <a:solidFill>
                  <a:srgbClr val="FFFFFF"/>
                </a:solidFill>
              </a:rPr>
              <a:t>and the Relationship to</a:t>
            </a:r>
            <a:br>
              <a:rPr lang="en-US" sz="4000" dirty="0">
                <a:solidFill>
                  <a:srgbClr val="FFFFFF"/>
                </a:solidFill>
              </a:rPr>
            </a:br>
            <a:br>
              <a:rPr lang="en-US" sz="4000" dirty="0">
                <a:solidFill>
                  <a:srgbClr val="FFFFFF"/>
                </a:solidFill>
              </a:rPr>
            </a:br>
            <a:r>
              <a:rPr lang="en-US" sz="4000" dirty="0">
                <a:solidFill>
                  <a:srgbClr val="FFFFFF"/>
                </a:solidFill>
              </a:rPr>
              <a:t>Catholic Social Teaching</a:t>
            </a:r>
            <a:br>
              <a:rPr lang="en-US" sz="4000" dirty="0">
                <a:solidFill>
                  <a:srgbClr val="FFFFFF"/>
                </a:solidFill>
              </a:rPr>
            </a:br>
            <a:endParaRPr lang="en-US" sz="4000" dirty="0">
              <a:solidFill>
                <a:srgbClr val="FFFFFF"/>
              </a:solidFill>
            </a:endParaRPr>
          </a:p>
        </p:txBody>
      </p:sp>
      <p:sp>
        <p:nvSpPr>
          <p:cNvPr id="5" name="Footer Placeholder 4">
            <a:extLst>
              <a:ext uri="{FF2B5EF4-FFF2-40B4-BE49-F238E27FC236}">
                <a16:creationId xmlns:a16="http://schemas.microsoft.com/office/drawing/2014/main" id="{8859665F-8A5E-F30E-80EB-272F0D366672}"/>
              </a:ext>
            </a:extLst>
          </p:cNvPr>
          <p:cNvSpPr>
            <a:spLocks noGrp="1"/>
          </p:cNvSpPr>
          <p:nvPr>
            <p:ph type="ftr" sz="quarter" idx="11"/>
          </p:nvPr>
        </p:nvSpPr>
        <p:spPr/>
        <p:txBody>
          <a:bodyPr/>
          <a:lstStyle/>
          <a:p>
            <a:r>
              <a:rPr lang="en-US"/>
              <a:t>by Zoltan Pap © December 25, 2025</a:t>
            </a:r>
          </a:p>
        </p:txBody>
      </p:sp>
    </p:spTree>
    <p:extLst>
      <p:ext uri="{BB962C8B-B14F-4D97-AF65-F5344CB8AC3E}">
        <p14:creationId xmlns:p14="http://schemas.microsoft.com/office/powerpoint/2010/main" val="669260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2192000" cy="6858000"/>
          </a:xfrm>
          <a:prstGeom prst="rect">
            <a:avLst/>
          </a:prstGeom>
        </p:spPr>
      </p:pic>
      <p:pic>
        <p:nvPicPr>
          <p:cNvPr id="36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6349809"/>
            <a:ext cx="508000" cy="508000"/>
          </a:xfrm>
          <a:prstGeom prst="rect">
            <a:avLst/>
          </a:prstGeom>
        </p:spPr>
      </p:pic>
      <p:pic>
        <p:nvPicPr>
          <p:cNvPr id="36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1683619" y="0"/>
            <a:ext cx="508000" cy="508000"/>
          </a:xfrm>
          <a:prstGeom prst="rect">
            <a:avLst/>
          </a:prstGeom>
        </p:spPr>
      </p:pic>
      <p:pic>
        <p:nvPicPr>
          <p:cNvPr id="371" name="9952cc85-4234-4337-b952-f9e6a3c80ccb">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5">
            <a:alphaModFix/>
          </a:blip>
          <a:stretch/>
        </p:blipFill>
        <p:spPr>
          <a:xfrm>
            <a:off x="0" y="0"/>
            <a:ext cx="12192000" cy="6858000"/>
          </a:xfrm>
          <a:prstGeom prst="rect">
            <a:avLst/>
          </a:prstGeom>
        </p:spPr>
      </p:pic>
      <p:pic>
        <p:nvPicPr>
          <p:cNvPr id="37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594600" y="830644"/>
            <a:ext cx="3987800" cy="1212850"/>
          </a:xfrm>
          <a:prstGeom prst="rect">
            <a:avLst/>
          </a:prstGeom>
        </p:spPr>
      </p:pic>
      <p:pic>
        <p:nvPicPr>
          <p:cNvPr id="37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7797800" y="1229423"/>
            <a:ext cx="406400" cy="406400"/>
          </a:xfrm>
          <a:prstGeom prst="rect">
            <a:avLst/>
          </a:prstGeom>
        </p:spPr>
      </p:pic>
      <p:sp>
        <p:nvSpPr>
          <p:cNvPr id="377" name="-0">
            <a:extLst>
              <a:ext uri="{FF2B5EF4-FFF2-40B4-BE49-F238E27FC236}">
                <a16:creationId xmlns:a16="http://schemas.microsoft.com/office/drawing/2014/main" id="{111B4A49-B930-4A89-A1CD-6CA2B3D95AED}"/>
              </a:ext>
            </a:extLst>
          </p:cNvPr>
          <p:cNvSpPr txBox="1"/>
          <p:nvPr/>
        </p:nvSpPr>
        <p:spPr>
          <a:xfrm>
            <a:off x="7908798" y="1296099"/>
            <a:ext cx="206375" cy="266996"/>
          </a:xfrm>
          <a:prstGeom prst="rect">
            <a:avLst/>
          </a:prstGeom>
          <a:noFill/>
        </p:spPr>
        <p:txBody>
          <a:bodyPr vertOverflow="clip" horzOverflow="clip" wrap="square" lIns="0" tIns="0" rIns="0" bIns="0" rtlCol="0" anchor="t">
            <a:spAutoFit/>
          </a:bodyPr>
          <a:lstStyle/>
          <a:p>
            <a:pPr algn="ctr">
              <a:lnSpc>
                <a:spcPts val="2160"/>
              </a:lnSpc>
            </a:pPr>
            <a:r>
              <a:rPr lang="en-US" sz="1440" dirty="0">
                <a:solidFill>
                  <a:srgbClr val="FFFFFF">
                    <a:alpha val="100000"/>
                  </a:srgbClr>
                </a:solidFill>
                <a:latin typeface="Poppins SemiBold" panose="00000700000000000000" pitchFamily="2" charset="0"/>
              </a:rPr>
              <a:t>01</a:t>
            </a:r>
          </a:p>
        </p:txBody>
      </p:sp>
      <p:sp>
        <p:nvSpPr>
          <p:cNvPr id="379" name="Primary Heading-0">
            <a:extLst>
              <a:ext uri="{FF2B5EF4-FFF2-40B4-BE49-F238E27FC236}">
                <a16:creationId xmlns:a16="http://schemas.microsoft.com/office/drawing/2014/main" id="{111B4A49-B930-4A89-A1CD-6CA2B3D95AED}"/>
              </a:ext>
            </a:extLst>
          </p:cNvPr>
          <p:cNvSpPr txBox="1"/>
          <p:nvPr/>
        </p:nvSpPr>
        <p:spPr>
          <a:xfrm>
            <a:off x="8310880" y="962724"/>
            <a:ext cx="3089275" cy="255839"/>
          </a:xfrm>
          <a:prstGeom prst="rect">
            <a:avLst/>
          </a:prstGeom>
          <a:noFill/>
        </p:spPr>
        <p:txBody>
          <a:bodyPr vertOverflow="clip" horzOverflow="clip" wrap="square" lIns="0" tIns="0" rIns="0" bIns="0" rtlCol="0" anchor="t">
            <a:spAutoFit/>
          </a:bodyPr>
          <a:lstStyle/>
          <a:p>
            <a:pPr>
              <a:lnSpc>
                <a:spcPts val="2100"/>
              </a:lnSpc>
            </a:pPr>
            <a:r>
              <a:rPr lang="en-US" sz="1400" spc="-25" dirty="0">
                <a:solidFill>
                  <a:srgbClr val="000000">
                    <a:alpha val="100000"/>
                  </a:srgbClr>
                </a:solidFill>
                <a:latin typeface="Poppins SemiBold" panose="00000700000000000000" pitchFamily="2" charset="0"/>
              </a:rPr>
              <a:t>Sovereign Data Definition</a:t>
            </a:r>
          </a:p>
        </p:txBody>
      </p:sp>
      <p:sp>
        <p:nvSpPr>
          <p:cNvPr id="381" name="Description of a primary heading-0">
            <a:extLst>
              <a:ext uri="{FF2B5EF4-FFF2-40B4-BE49-F238E27FC236}">
                <a16:creationId xmlns:a16="http://schemas.microsoft.com/office/drawing/2014/main" id="{111B4A49-B930-4A89-A1CD-6CA2B3D95AED}"/>
              </a:ext>
            </a:extLst>
          </p:cNvPr>
          <p:cNvSpPr txBox="1"/>
          <p:nvPr/>
        </p:nvSpPr>
        <p:spPr>
          <a:xfrm>
            <a:off x="8310880" y="1254824"/>
            <a:ext cx="3089275" cy="637995"/>
          </a:xfrm>
          <a:prstGeom prst="rect">
            <a:avLst/>
          </a:prstGeom>
          <a:noFill/>
        </p:spPr>
        <p:txBody>
          <a:bodyPr vertOverflow="clip" horzOverflow="clip" wrap="square" lIns="0" tIns="0" rIns="0" bIns="0" rtlCol="0" anchor="t">
            <a:spAutoFit/>
          </a:bodyPr>
          <a:lstStyle/>
          <a:p>
            <a:pPr>
              <a:lnSpc>
                <a:spcPts val="1740"/>
              </a:lnSpc>
            </a:pPr>
            <a:r>
              <a:rPr lang="en-US" sz="1200" spc="-6" dirty="0">
                <a:solidFill>
                  <a:srgbClr val="262D36">
                    <a:alpha val="80000"/>
                  </a:srgbClr>
                </a:solidFill>
                <a:latin typeface="Roboto" panose="00000700000000000000" pitchFamily="2" charset="0"/>
              </a:rPr>
              <a:t>Empowers individuals and entities with full rights over their data including access, control, sharing, and monetization.</a:t>
            </a:r>
          </a:p>
        </p:txBody>
      </p:sp>
      <p:pic>
        <p:nvPicPr>
          <p:cNvPr id="38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594600" y="2161604"/>
            <a:ext cx="3987800" cy="1212850"/>
          </a:xfrm>
          <a:prstGeom prst="rect">
            <a:avLst/>
          </a:prstGeom>
        </p:spPr>
      </p:pic>
      <p:pic>
        <p:nvPicPr>
          <p:cNvPr id="38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7797800" y="2560320"/>
            <a:ext cx="406400" cy="406400"/>
          </a:xfrm>
          <a:prstGeom prst="rect">
            <a:avLst/>
          </a:prstGeom>
        </p:spPr>
      </p:pic>
      <p:sp>
        <p:nvSpPr>
          <p:cNvPr id="387" name="-1">
            <a:extLst>
              <a:ext uri="{FF2B5EF4-FFF2-40B4-BE49-F238E27FC236}">
                <a16:creationId xmlns:a16="http://schemas.microsoft.com/office/drawing/2014/main" id="{111B4A49-B930-4A89-A1CD-6CA2B3D95AED}"/>
              </a:ext>
            </a:extLst>
          </p:cNvPr>
          <p:cNvSpPr txBox="1"/>
          <p:nvPr/>
        </p:nvSpPr>
        <p:spPr>
          <a:xfrm>
            <a:off x="7889367" y="2626995"/>
            <a:ext cx="244475" cy="266996"/>
          </a:xfrm>
          <a:prstGeom prst="rect">
            <a:avLst/>
          </a:prstGeom>
          <a:noFill/>
        </p:spPr>
        <p:txBody>
          <a:bodyPr vertOverflow="clip" horzOverflow="clip" wrap="square" lIns="0" tIns="0" rIns="0" bIns="0" rtlCol="0" anchor="t">
            <a:spAutoFit/>
          </a:bodyPr>
          <a:lstStyle/>
          <a:p>
            <a:pPr algn="ctr">
              <a:lnSpc>
                <a:spcPts val="2160"/>
              </a:lnSpc>
            </a:pPr>
            <a:r>
              <a:rPr lang="en-US" sz="1440" dirty="0">
                <a:solidFill>
                  <a:srgbClr val="FFFFFF">
                    <a:alpha val="100000"/>
                  </a:srgbClr>
                </a:solidFill>
                <a:latin typeface="Poppins SemiBold" panose="00000700000000000000" pitchFamily="2" charset="0"/>
              </a:rPr>
              <a:t>02</a:t>
            </a:r>
          </a:p>
        </p:txBody>
      </p:sp>
      <p:sp>
        <p:nvSpPr>
          <p:cNvPr id="389" name="Primary Heading-1">
            <a:extLst>
              <a:ext uri="{FF2B5EF4-FFF2-40B4-BE49-F238E27FC236}">
                <a16:creationId xmlns:a16="http://schemas.microsoft.com/office/drawing/2014/main" id="{111B4A49-B930-4A89-A1CD-6CA2B3D95AED}"/>
              </a:ext>
            </a:extLst>
          </p:cNvPr>
          <p:cNvSpPr txBox="1"/>
          <p:nvPr/>
        </p:nvSpPr>
        <p:spPr>
          <a:xfrm>
            <a:off x="8310880" y="2293621"/>
            <a:ext cx="3089275" cy="255839"/>
          </a:xfrm>
          <a:prstGeom prst="rect">
            <a:avLst/>
          </a:prstGeom>
          <a:noFill/>
        </p:spPr>
        <p:txBody>
          <a:bodyPr vertOverflow="clip" horzOverflow="clip" wrap="square" lIns="0" tIns="0" rIns="0" bIns="0" rtlCol="0" anchor="t">
            <a:spAutoFit/>
          </a:bodyPr>
          <a:lstStyle/>
          <a:p>
            <a:pPr>
              <a:lnSpc>
                <a:spcPts val="2100"/>
              </a:lnSpc>
            </a:pPr>
            <a:r>
              <a:rPr lang="en-US" sz="1400" spc="-25" dirty="0">
                <a:solidFill>
                  <a:srgbClr val="000000">
                    <a:alpha val="100000"/>
                  </a:srgbClr>
                </a:solidFill>
                <a:latin typeface="Poppins SemiBold" panose="00000700000000000000" pitchFamily="2" charset="0"/>
              </a:rPr>
              <a:t>Maintains Ownership</a:t>
            </a:r>
          </a:p>
        </p:txBody>
      </p:sp>
      <p:sp>
        <p:nvSpPr>
          <p:cNvPr id="391" name="Description of a primary heading-1">
            <a:extLst>
              <a:ext uri="{FF2B5EF4-FFF2-40B4-BE49-F238E27FC236}">
                <a16:creationId xmlns:a16="http://schemas.microsoft.com/office/drawing/2014/main" id="{111B4A49-B930-4A89-A1CD-6CA2B3D95AED}"/>
              </a:ext>
            </a:extLst>
          </p:cNvPr>
          <p:cNvSpPr txBox="1"/>
          <p:nvPr/>
        </p:nvSpPr>
        <p:spPr>
          <a:xfrm>
            <a:off x="8310880" y="2585721"/>
            <a:ext cx="3089275" cy="637995"/>
          </a:xfrm>
          <a:prstGeom prst="rect">
            <a:avLst/>
          </a:prstGeom>
          <a:noFill/>
        </p:spPr>
        <p:txBody>
          <a:bodyPr vertOverflow="clip" horzOverflow="clip" wrap="square" lIns="0" tIns="0" rIns="0" bIns="0" rtlCol="0" anchor="t">
            <a:spAutoFit/>
          </a:bodyPr>
          <a:lstStyle/>
          <a:p>
            <a:pPr>
              <a:lnSpc>
                <a:spcPts val="1740"/>
              </a:lnSpc>
            </a:pPr>
            <a:r>
              <a:rPr lang="en-US" sz="1200" spc="-6" dirty="0">
                <a:solidFill>
                  <a:srgbClr val="262D36">
                    <a:alpha val="80000"/>
                  </a:srgbClr>
                </a:solidFill>
                <a:latin typeface="Roboto" panose="00000700000000000000" pitchFamily="2" charset="0"/>
              </a:rPr>
              <a:t>Returns data ownership and value generation back to the original data creators, reversing traditional models.</a:t>
            </a:r>
          </a:p>
        </p:txBody>
      </p:sp>
      <p:pic>
        <p:nvPicPr>
          <p:cNvPr id="39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594600" y="3492500"/>
            <a:ext cx="3987800" cy="1212850"/>
          </a:xfrm>
          <a:prstGeom prst="rect">
            <a:avLst/>
          </a:prstGeom>
        </p:spPr>
      </p:pic>
      <p:pic>
        <p:nvPicPr>
          <p:cNvPr id="39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7797800" y="3891280"/>
            <a:ext cx="406400" cy="406400"/>
          </a:xfrm>
          <a:prstGeom prst="rect">
            <a:avLst/>
          </a:prstGeom>
        </p:spPr>
      </p:pic>
      <p:sp>
        <p:nvSpPr>
          <p:cNvPr id="397" name="-2">
            <a:extLst>
              <a:ext uri="{FF2B5EF4-FFF2-40B4-BE49-F238E27FC236}">
                <a16:creationId xmlns:a16="http://schemas.microsoft.com/office/drawing/2014/main" id="{111B4A49-B930-4A89-A1CD-6CA2B3D95AED}"/>
              </a:ext>
            </a:extLst>
          </p:cNvPr>
          <p:cNvSpPr txBox="1"/>
          <p:nvPr/>
        </p:nvSpPr>
        <p:spPr>
          <a:xfrm>
            <a:off x="7887082" y="3957955"/>
            <a:ext cx="250825" cy="266996"/>
          </a:xfrm>
          <a:prstGeom prst="rect">
            <a:avLst/>
          </a:prstGeom>
          <a:noFill/>
        </p:spPr>
        <p:txBody>
          <a:bodyPr vertOverflow="clip" horzOverflow="clip" wrap="square" lIns="0" tIns="0" rIns="0" bIns="0" rtlCol="0" anchor="t">
            <a:spAutoFit/>
          </a:bodyPr>
          <a:lstStyle/>
          <a:p>
            <a:pPr algn="ctr">
              <a:lnSpc>
                <a:spcPts val="2160"/>
              </a:lnSpc>
            </a:pPr>
            <a:r>
              <a:rPr lang="en-US" sz="1440" dirty="0">
                <a:solidFill>
                  <a:srgbClr val="FFFFFF">
                    <a:alpha val="100000"/>
                  </a:srgbClr>
                </a:solidFill>
                <a:latin typeface="Poppins SemiBold" panose="00000700000000000000" pitchFamily="2" charset="0"/>
              </a:rPr>
              <a:t>03</a:t>
            </a:r>
          </a:p>
        </p:txBody>
      </p:sp>
      <p:sp>
        <p:nvSpPr>
          <p:cNvPr id="399" name="Primary Heading-2">
            <a:extLst>
              <a:ext uri="{FF2B5EF4-FFF2-40B4-BE49-F238E27FC236}">
                <a16:creationId xmlns:a16="http://schemas.microsoft.com/office/drawing/2014/main" id="{111B4A49-B930-4A89-A1CD-6CA2B3D95AED}"/>
              </a:ext>
            </a:extLst>
          </p:cNvPr>
          <p:cNvSpPr txBox="1"/>
          <p:nvPr/>
        </p:nvSpPr>
        <p:spPr>
          <a:xfrm>
            <a:off x="8310880" y="3624581"/>
            <a:ext cx="3089275" cy="255839"/>
          </a:xfrm>
          <a:prstGeom prst="rect">
            <a:avLst/>
          </a:prstGeom>
          <a:noFill/>
        </p:spPr>
        <p:txBody>
          <a:bodyPr vertOverflow="clip" horzOverflow="clip" wrap="square" lIns="0" tIns="0" rIns="0" bIns="0" rtlCol="0" anchor="t">
            <a:spAutoFit/>
          </a:bodyPr>
          <a:lstStyle/>
          <a:p>
            <a:pPr>
              <a:lnSpc>
                <a:spcPts val="2100"/>
              </a:lnSpc>
            </a:pPr>
            <a:r>
              <a:rPr lang="en-US" sz="1400" spc="-25" dirty="0">
                <a:solidFill>
                  <a:srgbClr val="000000">
                    <a:alpha val="100000"/>
                  </a:srgbClr>
                </a:solidFill>
                <a:latin typeface="Poppins SemiBold" panose="00000700000000000000" pitchFamily="2" charset="0"/>
              </a:rPr>
              <a:t>Control as Foundational</a:t>
            </a:r>
          </a:p>
        </p:txBody>
      </p:sp>
      <p:sp>
        <p:nvSpPr>
          <p:cNvPr id="401" name="Description of a primary heading-2">
            <a:extLst>
              <a:ext uri="{FF2B5EF4-FFF2-40B4-BE49-F238E27FC236}">
                <a16:creationId xmlns:a16="http://schemas.microsoft.com/office/drawing/2014/main" id="{111B4A49-B930-4A89-A1CD-6CA2B3D95AED}"/>
              </a:ext>
            </a:extLst>
          </p:cNvPr>
          <p:cNvSpPr txBox="1"/>
          <p:nvPr/>
        </p:nvSpPr>
        <p:spPr>
          <a:xfrm>
            <a:off x="8310880" y="3916681"/>
            <a:ext cx="3089275" cy="637995"/>
          </a:xfrm>
          <a:prstGeom prst="rect">
            <a:avLst/>
          </a:prstGeom>
          <a:noFill/>
        </p:spPr>
        <p:txBody>
          <a:bodyPr vertOverflow="clip" horzOverflow="clip" wrap="square" lIns="0" tIns="0" rIns="0" bIns="0" rtlCol="0" anchor="t">
            <a:spAutoFit/>
          </a:bodyPr>
          <a:lstStyle/>
          <a:p>
            <a:pPr>
              <a:lnSpc>
                <a:spcPts val="1740"/>
              </a:lnSpc>
            </a:pPr>
            <a:r>
              <a:rPr lang="en-US" sz="1200" spc="-6" dirty="0">
                <a:solidFill>
                  <a:srgbClr val="262D36">
                    <a:alpha val="80000"/>
                  </a:srgbClr>
                </a:solidFill>
                <a:latin typeface="Roboto" panose="00000700000000000000" pitchFamily="2" charset="0"/>
              </a:rPr>
              <a:t>Control is essential for meaningful valuation and monetization of data assets, enabling value extraction.</a:t>
            </a:r>
          </a:p>
        </p:txBody>
      </p:sp>
      <p:pic>
        <p:nvPicPr>
          <p:cNvPr id="40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594600" y="4823397"/>
            <a:ext cx="3987800" cy="1212850"/>
          </a:xfrm>
          <a:prstGeom prst="rect">
            <a:avLst/>
          </a:prstGeom>
        </p:spPr>
      </p:pic>
      <p:pic>
        <p:nvPicPr>
          <p:cNvPr id="40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7797800" y="5222177"/>
            <a:ext cx="406400" cy="406400"/>
          </a:xfrm>
          <a:prstGeom prst="rect">
            <a:avLst/>
          </a:prstGeom>
        </p:spPr>
      </p:pic>
      <p:sp>
        <p:nvSpPr>
          <p:cNvPr id="407" name="-3">
            <a:extLst>
              <a:ext uri="{FF2B5EF4-FFF2-40B4-BE49-F238E27FC236}">
                <a16:creationId xmlns:a16="http://schemas.microsoft.com/office/drawing/2014/main" id="{111B4A49-B930-4A89-A1CD-6CA2B3D95AED}"/>
              </a:ext>
            </a:extLst>
          </p:cNvPr>
          <p:cNvSpPr txBox="1"/>
          <p:nvPr/>
        </p:nvSpPr>
        <p:spPr>
          <a:xfrm>
            <a:off x="7881430" y="5288852"/>
            <a:ext cx="263525" cy="266996"/>
          </a:xfrm>
          <a:prstGeom prst="rect">
            <a:avLst/>
          </a:prstGeom>
          <a:noFill/>
        </p:spPr>
        <p:txBody>
          <a:bodyPr vertOverflow="clip" horzOverflow="clip" wrap="square" lIns="0" tIns="0" rIns="0" bIns="0" rtlCol="0" anchor="t">
            <a:spAutoFit/>
          </a:bodyPr>
          <a:lstStyle/>
          <a:p>
            <a:pPr algn="ctr">
              <a:lnSpc>
                <a:spcPts val="2160"/>
              </a:lnSpc>
            </a:pPr>
            <a:r>
              <a:rPr lang="en-US" sz="1440" dirty="0">
                <a:solidFill>
                  <a:srgbClr val="FFFFFF">
                    <a:alpha val="100000"/>
                  </a:srgbClr>
                </a:solidFill>
                <a:latin typeface="Poppins SemiBold" panose="00000700000000000000" pitchFamily="2" charset="0"/>
              </a:rPr>
              <a:t>04</a:t>
            </a:r>
          </a:p>
        </p:txBody>
      </p:sp>
      <p:sp>
        <p:nvSpPr>
          <p:cNvPr id="409" name="Primary Heading-3">
            <a:extLst>
              <a:ext uri="{FF2B5EF4-FFF2-40B4-BE49-F238E27FC236}">
                <a16:creationId xmlns:a16="http://schemas.microsoft.com/office/drawing/2014/main" id="{111B4A49-B930-4A89-A1CD-6CA2B3D95AED}"/>
              </a:ext>
            </a:extLst>
          </p:cNvPr>
          <p:cNvSpPr txBox="1"/>
          <p:nvPr/>
        </p:nvSpPr>
        <p:spPr>
          <a:xfrm>
            <a:off x="8310880" y="4955477"/>
            <a:ext cx="3089275" cy="255839"/>
          </a:xfrm>
          <a:prstGeom prst="rect">
            <a:avLst/>
          </a:prstGeom>
          <a:noFill/>
        </p:spPr>
        <p:txBody>
          <a:bodyPr vertOverflow="clip" horzOverflow="clip" wrap="square" lIns="0" tIns="0" rIns="0" bIns="0" rtlCol="0" anchor="t">
            <a:spAutoFit/>
          </a:bodyPr>
          <a:lstStyle/>
          <a:p>
            <a:pPr>
              <a:lnSpc>
                <a:spcPts val="2100"/>
              </a:lnSpc>
            </a:pPr>
            <a:r>
              <a:rPr lang="en-US" sz="1400" spc="-25" dirty="0">
                <a:solidFill>
                  <a:srgbClr val="000000">
                    <a:alpha val="100000"/>
                  </a:srgbClr>
                </a:solidFill>
                <a:latin typeface="Poppins SemiBold" panose="00000700000000000000" pitchFamily="2" charset="0"/>
              </a:rPr>
              <a:t>Strategic Benefit</a:t>
            </a:r>
          </a:p>
        </p:txBody>
      </p:sp>
      <p:sp>
        <p:nvSpPr>
          <p:cNvPr id="411" name="Description of a primary heading-3">
            <a:extLst>
              <a:ext uri="{FF2B5EF4-FFF2-40B4-BE49-F238E27FC236}">
                <a16:creationId xmlns:a16="http://schemas.microsoft.com/office/drawing/2014/main" id="{111B4A49-B930-4A89-A1CD-6CA2B3D95AED}"/>
              </a:ext>
            </a:extLst>
          </p:cNvPr>
          <p:cNvSpPr txBox="1"/>
          <p:nvPr/>
        </p:nvSpPr>
        <p:spPr>
          <a:xfrm>
            <a:off x="8310880" y="5247577"/>
            <a:ext cx="3089275" cy="637995"/>
          </a:xfrm>
          <a:prstGeom prst="rect">
            <a:avLst/>
          </a:prstGeom>
          <a:noFill/>
        </p:spPr>
        <p:txBody>
          <a:bodyPr vertOverflow="clip" horzOverflow="clip" wrap="square" lIns="0" tIns="0" rIns="0" bIns="0" rtlCol="0" anchor="t">
            <a:spAutoFit/>
          </a:bodyPr>
          <a:lstStyle/>
          <a:p>
            <a:pPr>
              <a:lnSpc>
                <a:spcPts val="1740"/>
              </a:lnSpc>
            </a:pPr>
            <a:r>
              <a:rPr lang="en-US" sz="1200" spc="-6" dirty="0">
                <a:solidFill>
                  <a:srgbClr val="262D36">
                    <a:alpha val="80000"/>
                  </a:srgbClr>
                </a:solidFill>
                <a:latin typeface="Roboto" panose="00000700000000000000" pitchFamily="2" charset="0"/>
              </a:rPr>
              <a:t>Maximizing data value requires sovereignty. Without sovereign control, value extraction is impossible.</a:t>
            </a:r>
          </a:p>
        </p:txBody>
      </p:sp>
      <p:sp>
        <p:nvSpPr>
          <p:cNvPr id="413" name="Title 3">
            <a:extLst>
              <a:ext uri="{FF2B5EF4-FFF2-40B4-BE49-F238E27FC236}">
                <a16:creationId xmlns:a16="http://schemas.microsoft.com/office/drawing/2014/main" id="{111B4A49-B930-4A89-A1CD-6CA2B3D95AED}"/>
              </a:ext>
            </a:extLst>
          </p:cNvPr>
          <p:cNvSpPr txBox="1"/>
          <p:nvPr/>
        </p:nvSpPr>
        <p:spPr>
          <a:xfrm>
            <a:off x="635000" y="2336800"/>
            <a:ext cx="3019425" cy="1447832"/>
          </a:xfrm>
          <a:prstGeom prst="rect">
            <a:avLst/>
          </a:prstGeom>
          <a:noFill/>
        </p:spPr>
        <p:txBody>
          <a:bodyPr vertOverflow="clip" horzOverflow="clip" wrap="square" lIns="0" tIns="0" rIns="0" bIns="0" rtlCol="0" anchor="t">
            <a:spAutoFit/>
          </a:bodyPr>
          <a:lstStyle/>
          <a:p>
            <a:pPr>
              <a:lnSpc>
                <a:spcPts val="3780"/>
              </a:lnSpc>
            </a:pPr>
            <a:r>
              <a:rPr lang="en-US" sz="2800" spc="-61" dirty="0">
                <a:solidFill>
                  <a:srgbClr val="000000">
                    <a:alpha val="100000"/>
                  </a:srgbClr>
                </a:solidFill>
                <a:latin typeface="Poppins SemiBold" panose="00000700000000000000" pitchFamily="2" charset="0"/>
              </a:rPr>
              <a:t>Introducing the Sovereign Data Approach</a:t>
            </a:r>
          </a:p>
        </p:txBody>
      </p:sp>
      <p:sp>
        <p:nvSpPr>
          <p:cNvPr id="415" name="SubTitle">
            <a:extLst>
              <a:ext uri="{FF2B5EF4-FFF2-40B4-BE49-F238E27FC236}">
                <a16:creationId xmlns:a16="http://schemas.microsoft.com/office/drawing/2014/main" id="{111B4A49-B930-4A89-A1CD-6CA2B3D95AED}"/>
              </a:ext>
            </a:extLst>
          </p:cNvPr>
          <p:cNvSpPr txBox="1"/>
          <p:nvPr/>
        </p:nvSpPr>
        <p:spPr>
          <a:xfrm>
            <a:off x="635000" y="3860801"/>
            <a:ext cx="3019425" cy="856004"/>
          </a:xfrm>
          <a:prstGeom prst="rect">
            <a:avLst/>
          </a:prstGeom>
          <a:noFill/>
        </p:spPr>
        <p:txBody>
          <a:bodyPr vertOverflow="clip" horzOverflow="clip" wrap="square" lIns="0" tIns="0" rIns="0" bIns="0" rtlCol="0" anchor="t">
            <a:spAutoFit/>
          </a:bodyPr>
          <a:lstStyle/>
          <a:p>
            <a:pPr>
              <a:lnSpc>
                <a:spcPts val="1740"/>
              </a:lnSpc>
            </a:pPr>
            <a:r>
              <a:rPr lang="en-US" sz="1200" spc="-6" dirty="0">
                <a:solidFill>
                  <a:srgbClr val="262D36">
                    <a:alpha val="80000"/>
                  </a:srgbClr>
                </a:solidFill>
                <a:latin typeface="Roboto" panose="00000700000000000000" pitchFamily="2" charset="0"/>
              </a:rPr>
              <a:t>Provides fundamental control by user of their data and show they share data with in a social trust network platform concept and design</a:t>
            </a:r>
          </a:p>
        </p:txBody>
      </p:sp>
      <p:sp>
        <p:nvSpPr>
          <p:cNvPr id="2" name="Footer Placeholder 1">
            <a:extLst>
              <a:ext uri="{FF2B5EF4-FFF2-40B4-BE49-F238E27FC236}">
                <a16:creationId xmlns:a16="http://schemas.microsoft.com/office/drawing/2014/main" id="{8DAC11C1-AFF8-B49C-3588-9F28F7C5611C}"/>
              </a:ext>
            </a:extLst>
          </p:cNvPr>
          <p:cNvSpPr>
            <a:spLocks noGrp="1"/>
          </p:cNvSpPr>
          <p:nvPr>
            <p:ph type="ftr" sz="quarter" idx="11"/>
          </p:nvPr>
        </p:nvSpPr>
        <p:spPr/>
        <p:txBody>
          <a:bodyPr/>
          <a:lstStyle/>
          <a:p>
            <a:r>
              <a:rPr lang="en-US"/>
              <a:t>by Zoltan Pap © December 25, 2025</a:t>
            </a:r>
          </a:p>
        </p:txBody>
      </p:sp>
    </p:spTree>
    <p:extLst>
      <p:ext uri="{BB962C8B-B14F-4D97-AF65-F5344CB8AC3E}">
        <p14:creationId xmlns:p14="http://schemas.microsoft.com/office/powerpoint/2010/main" val="3648047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2192000" cy="6858000"/>
          </a:xfrm>
          <a:prstGeom prst="rect">
            <a:avLst/>
          </a:prstGeom>
        </p:spPr>
      </p:pic>
      <p:pic>
        <p:nvPicPr>
          <p:cNvPr id="31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9753600" y="0"/>
            <a:ext cx="2438400" cy="609600"/>
          </a:xfrm>
          <a:prstGeom prst="rect">
            <a:avLst/>
          </a:prstGeom>
        </p:spPr>
      </p:pic>
      <p:pic>
        <p:nvPicPr>
          <p:cNvPr id="31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09600" y="2536825"/>
            <a:ext cx="914400" cy="914400"/>
          </a:xfrm>
          <a:prstGeom prst="rect">
            <a:avLst/>
          </a:prstGeom>
        </p:spPr>
      </p:pic>
      <p:pic>
        <p:nvPicPr>
          <p:cNvPr id="320" name="iconNode0">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FCDF6F11-E988-4874-A691-81584FCDEBC3}">
                <asvg:svgBlip xmlns="" xmlns:a16="http://schemas.microsoft.com/office/drawing/2014/main" xmlns:a14="http://schemas.microsoft.com/office/drawing/2010/main" xmlns:p14="http://schemas.microsoft.com/office/powerpoint/2010/main" xmlns:asvg="http://schemas.microsoft.com/office/drawing/2016/SVG/main" r:embed="rId27"/>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838200" y="2765425"/>
            <a:ext cx="457200" cy="457200"/>
          </a:xfrm>
          <a:prstGeom prst="rect">
            <a:avLst/>
          </a:prstGeom>
        </p:spPr>
      </p:pic>
      <p:sp>
        <p:nvSpPr>
          <p:cNvPr id="322" name="Primary Heading-0">
            <a:extLst>
              <a:ext uri="{FF2B5EF4-FFF2-40B4-BE49-F238E27FC236}">
                <a16:creationId xmlns:a16="http://schemas.microsoft.com/office/drawing/2014/main" id="{111B4A49-B930-4A89-A1CD-6CA2B3D95AED}"/>
              </a:ext>
            </a:extLst>
          </p:cNvPr>
          <p:cNvSpPr txBox="1"/>
          <p:nvPr/>
        </p:nvSpPr>
        <p:spPr>
          <a:xfrm>
            <a:off x="609600" y="3705226"/>
            <a:ext cx="2498725" cy="496226"/>
          </a:xfrm>
          <a:prstGeom prst="rect">
            <a:avLst/>
          </a:prstGeom>
          <a:noFill/>
        </p:spPr>
        <p:txBody>
          <a:bodyPr vertOverflow="clip" horzOverflow="clip" wrap="square" lIns="0" tIns="0" rIns="0" bIns="0" rtlCol="0" anchor="t">
            <a:spAutoFit/>
          </a:bodyPr>
          <a:lstStyle/>
          <a:p>
            <a:pPr>
              <a:lnSpc>
                <a:spcPts val="1988"/>
              </a:lnSpc>
            </a:pPr>
            <a:r>
              <a:rPr lang="en-US" sz="1400" spc="-35" dirty="0">
                <a:solidFill>
                  <a:srgbClr val="161723">
                    <a:alpha val="100000"/>
                  </a:srgbClr>
                </a:solidFill>
                <a:latin typeface="Inter SemiBold" panose="00000700000000000000" pitchFamily="2" charset="0"/>
              </a:rPr>
              <a:t>Acts as the user’s AI agent mirroring behaviors and preferences</a:t>
            </a:r>
          </a:p>
        </p:txBody>
      </p:sp>
      <p:sp>
        <p:nvSpPr>
          <p:cNvPr id="324" name="Description of a primary heading-0">
            <a:extLst>
              <a:ext uri="{FF2B5EF4-FFF2-40B4-BE49-F238E27FC236}">
                <a16:creationId xmlns:a16="http://schemas.microsoft.com/office/drawing/2014/main" id="{111B4A49-B930-4A89-A1CD-6CA2B3D95AED}"/>
              </a:ext>
            </a:extLst>
          </p:cNvPr>
          <p:cNvSpPr txBox="1"/>
          <p:nvPr/>
        </p:nvSpPr>
        <p:spPr>
          <a:xfrm>
            <a:off x="609600" y="4524375"/>
            <a:ext cx="2498725" cy="707117"/>
          </a:xfrm>
          <a:prstGeom prst="rect">
            <a:avLst/>
          </a:prstGeom>
          <a:noFill/>
        </p:spPr>
        <p:txBody>
          <a:bodyPr vertOverflow="clip" horzOverflow="clip" wrap="square" lIns="0" tIns="0" rIns="0" bIns="0" rtlCol="0" anchor="t">
            <a:spAutoFit/>
          </a:bodyPr>
          <a:lstStyle/>
          <a:p>
            <a:pPr>
              <a:lnSpc>
                <a:spcPts val="1400"/>
              </a:lnSpc>
            </a:pPr>
            <a:r>
              <a:rPr lang="en-US" sz="1000" spc="-20" dirty="0">
                <a:solidFill>
                  <a:srgbClr val="161723">
                    <a:alpha val="100000"/>
                  </a:srgbClr>
                </a:solidFill>
                <a:latin typeface="Inter" panose="00000700000000000000" pitchFamily="2" charset="0"/>
              </a:rPr>
              <a:t>Sovereign AI is programmed to replicate the user’s specific behaviors and preferences, ensuring personalized interactions and responses that feel natural and intuitive to the user.</a:t>
            </a:r>
          </a:p>
        </p:txBody>
      </p:sp>
      <p:pic>
        <p:nvPicPr>
          <p:cNvPr id="32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3441700" y="2536825"/>
            <a:ext cx="914400" cy="914400"/>
          </a:xfrm>
          <a:prstGeom prst="rect">
            <a:avLst/>
          </a:prstGeom>
        </p:spPr>
      </p:pic>
      <p:pic>
        <p:nvPicPr>
          <p:cNvPr id="328" name="iconNode1">
            <a:extLst>
              <a:ext uri="{FF2B5EF4-FFF2-40B4-BE49-F238E27FC236}">
                <a16:creationId xmlns:a16="http://schemas.microsoft.com/office/drawing/2014/main" id="{A8642F66-C0BB-4949-9A9C-024B120A5D52}"/>
              </a:ext>
            </a:extLst>
          </p:cNvPr>
          <p:cNvPicPr>
            <a:picLocks noChangeAspect="1"/>
          </p:cNvPicPr>
          <p:nvPr/>
        </p:nvPicPr>
        <p:blipFill rotWithShape="1">
          <a:blip r:embed="rId28">
            <a:alphaModFix/>
            <a:extLst>
              <a:ext uri="{1BD3D034-199B-425B-8A5B-A04D9C7E9084}">
                <asvg:svgBlip xmlns="" xmlns:a16="http://schemas.microsoft.com/office/drawing/2014/main" xmlns:a14="http://schemas.microsoft.com/office/drawing/2010/main" xmlns:p14="http://schemas.microsoft.com/office/powerpoint/2010/main" xmlns:asvg="http://schemas.microsoft.com/office/drawing/2016/SVG/main" r:embed="rId32"/>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3670300" y="2765425"/>
            <a:ext cx="457200" cy="457200"/>
          </a:xfrm>
          <a:prstGeom prst="rect">
            <a:avLst/>
          </a:prstGeom>
        </p:spPr>
      </p:pic>
      <p:sp>
        <p:nvSpPr>
          <p:cNvPr id="330" name="Primary Heading-1">
            <a:extLst>
              <a:ext uri="{FF2B5EF4-FFF2-40B4-BE49-F238E27FC236}">
                <a16:creationId xmlns:a16="http://schemas.microsoft.com/office/drawing/2014/main" id="{111B4A49-B930-4A89-A1CD-6CA2B3D95AED}"/>
              </a:ext>
            </a:extLst>
          </p:cNvPr>
          <p:cNvSpPr txBox="1"/>
          <p:nvPr/>
        </p:nvSpPr>
        <p:spPr>
          <a:xfrm>
            <a:off x="3441700" y="3705225"/>
            <a:ext cx="2498725" cy="496226"/>
          </a:xfrm>
          <a:prstGeom prst="rect">
            <a:avLst/>
          </a:prstGeom>
          <a:noFill/>
        </p:spPr>
        <p:txBody>
          <a:bodyPr vertOverflow="clip" horzOverflow="clip" wrap="square" lIns="0" tIns="0" rIns="0" bIns="0" rtlCol="0" anchor="t">
            <a:spAutoFit/>
          </a:bodyPr>
          <a:lstStyle/>
          <a:p>
            <a:pPr>
              <a:lnSpc>
                <a:spcPts val="1988"/>
              </a:lnSpc>
            </a:pPr>
            <a:r>
              <a:rPr lang="en-US" sz="1400" spc="-35" dirty="0">
                <a:solidFill>
                  <a:srgbClr val="161723">
                    <a:alpha val="100000"/>
                  </a:srgbClr>
                </a:solidFill>
                <a:latin typeface="Inter SemiBold" panose="00000700000000000000" pitchFamily="2" charset="0"/>
              </a:rPr>
              <a:t>Operates based on user values and ethics</a:t>
            </a:r>
          </a:p>
        </p:txBody>
      </p:sp>
      <p:sp>
        <p:nvSpPr>
          <p:cNvPr id="332" name="Description of a primary heading-1">
            <a:extLst>
              <a:ext uri="{FF2B5EF4-FFF2-40B4-BE49-F238E27FC236}">
                <a16:creationId xmlns:a16="http://schemas.microsoft.com/office/drawing/2014/main" id="{111B4A49-B930-4A89-A1CD-6CA2B3D95AED}"/>
              </a:ext>
            </a:extLst>
          </p:cNvPr>
          <p:cNvSpPr txBox="1"/>
          <p:nvPr/>
        </p:nvSpPr>
        <p:spPr>
          <a:xfrm>
            <a:off x="3441700" y="4276725"/>
            <a:ext cx="2498725" cy="707117"/>
          </a:xfrm>
          <a:prstGeom prst="rect">
            <a:avLst/>
          </a:prstGeom>
          <a:noFill/>
        </p:spPr>
        <p:txBody>
          <a:bodyPr vertOverflow="clip" horzOverflow="clip" wrap="square" lIns="0" tIns="0" rIns="0" bIns="0" rtlCol="0" anchor="t">
            <a:spAutoFit/>
          </a:bodyPr>
          <a:lstStyle/>
          <a:p>
            <a:pPr>
              <a:lnSpc>
                <a:spcPts val="1400"/>
              </a:lnSpc>
            </a:pPr>
            <a:r>
              <a:rPr lang="en-US" sz="1000" spc="-20" dirty="0">
                <a:solidFill>
                  <a:srgbClr val="161723">
                    <a:alpha val="100000"/>
                  </a:srgbClr>
                </a:solidFill>
                <a:latin typeface="Inter" panose="00000700000000000000" pitchFamily="2" charset="0"/>
              </a:rPr>
              <a:t>It incorporates the user’s values and ethical frameworks into its functioning, aligning AI decisions with what the user considers morally and socially acceptable.</a:t>
            </a:r>
          </a:p>
        </p:txBody>
      </p:sp>
      <p:pic>
        <p:nvPicPr>
          <p:cNvPr id="33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273800" y="2536825"/>
            <a:ext cx="914400" cy="914400"/>
          </a:xfrm>
          <a:prstGeom prst="rect">
            <a:avLst/>
          </a:prstGeom>
        </p:spPr>
      </p:pic>
      <p:pic>
        <p:nvPicPr>
          <p:cNvPr id="336" name="iconNode2">
            <a:extLst>
              <a:ext uri="{FF2B5EF4-FFF2-40B4-BE49-F238E27FC236}">
                <a16:creationId xmlns:a16="http://schemas.microsoft.com/office/drawing/2014/main" id="{A8642F66-C0BB-4949-9A9C-024B120A5D52}"/>
              </a:ext>
            </a:extLst>
          </p:cNvPr>
          <p:cNvPicPr>
            <a:picLocks noChangeAspect="1"/>
          </p:cNvPicPr>
          <p:nvPr/>
        </p:nvPicPr>
        <p:blipFill rotWithShape="1">
          <a:blip r:embed="rId33">
            <a:alphaModFix/>
          </a:blip>
          <a:stretch/>
        </p:blipFill>
        <p:spPr>
          <a:xfrm>
            <a:off x="6502400" y="2765425"/>
            <a:ext cx="457200" cy="457200"/>
          </a:xfrm>
          <a:prstGeom prst="rect">
            <a:avLst/>
          </a:prstGeom>
        </p:spPr>
      </p:pic>
      <p:sp>
        <p:nvSpPr>
          <p:cNvPr id="338" name="Primary Heading-2">
            <a:extLst>
              <a:ext uri="{FF2B5EF4-FFF2-40B4-BE49-F238E27FC236}">
                <a16:creationId xmlns:a16="http://schemas.microsoft.com/office/drawing/2014/main" id="{111B4A49-B930-4A89-A1CD-6CA2B3D95AED}"/>
              </a:ext>
            </a:extLst>
          </p:cNvPr>
          <p:cNvSpPr txBox="1"/>
          <p:nvPr/>
        </p:nvSpPr>
        <p:spPr>
          <a:xfrm>
            <a:off x="6273800" y="3705226"/>
            <a:ext cx="2498725" cy="496226"/>
          </a:xfrm>
          <a:prstGeom prst="rect">
            <a:avLst/>
          </a:prstGeom>
          <a:noFill/>
        </p:spPr>
        <p:txBody>
          <a:bodyPr vertOverflow="clip" horzOverflow="clip" wrap="square" lIns="0" tIns="0" rIns="0" bIns="0" rtlCol="0" anchor="t">
            <a:spAutoFit/>
          </a:bodyPr>
          <a:lstStyle/>
          <a:p>
            <a:pPr>
              <a:lnSpc>
                <a:spcPts val="1988"/>
              </a:lnSpc>
            </a:pPr>
            <a:r>
              <a:rPr lang="en-US" sz="1400" spc="-35" dirty="0">
                <a:solidFill>
                  <a:srgbClr val="161723">
                    <a:alpha val="100000"/>
                  </a:srgbClr>
                </a:solidFill>
                <a:latin typeface="Inter SemiBold" panose="00000700000000000000" pitchFamily="2" charset="0"/>
              </a:rPr>
              <a:t>Enables direct user control over decisions and operations</a:t>
            </a:r>
          </a:p>
        </p:txBody>
      </p:sp>
      <p:sp>
        <p:nvSpPr>
          <p:cNvPr id="340" name="Description of a primary heading-2">
            <a:extLst>
              <a:ext uri="{FF2B5EF4-FFF2-40B4-BE49-F238E27FC236}">
                <a16:creationId xmlns:a16="http://schemas.microsoft.com/office/drawing/2014/main" id="{111B4A49-B930-4A89-A1CD-6CA2B3D95AED}"/>
              </a:ext>
            </a:extLst>
          </p:cNvPr>
          <p:cNvSpPr txBox="1"/>
          <p:nvPr/>
        </p:nvSpPr>
        <p:spPr>
          <a:xfrm>
            <a:off x="6273800" y="4276726"/>
            <a:ext cx="2498725" cy="527580"/>
          </a:xfrm>
          <a:prstGeom prst="rect">
            <a:avLst/>
          </a:prstGeom>
          <a:noFill/>
        </p:spPr>
        <p:txBody>
          <a:bodyPr vertOverflow="clip" horzOverflow="clip" wrap="square" lIns="0" tIns="0" rIns="0" bIns="0" rtlCol="0" anchor="t">
            <a:spAutoFit/>
          </a:bodyPr>
          <a:lstStyle/>
          <a:p>
            <a:pPr>
              <a:lnSpc>
                <a:spcPts val="1400"/>
              </a:lnSpc>
            </a:pPr>
            <a:r>
              <a:rPr lang="en-US" sz="1000" spc="-20" dirty="0">
                <a:solidFill>
                  <a:srgbClr val="161723">
                    <a:alpha val="100000"/>
                  </a:srgbClr>
                </a:solidFill>
                <a:latin typeface="Inter" panose="00000700000000000000" pitchFamily="2" charset="0"/>
              </a:rPr>
              <a:t>Users maintain direct authority over how the AI makes decisions and carries out tasks, allowing transparency and trust in AI-driven outcomes.</a:t>
            </a:r>
          </a:p>
        </p:txBody>
      </p:sp>
      <p:pic>
        <p:nvPicPr>
          <p:cNvPr id="34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9105900" y="2536825"/>
            <a:ext cx="914400" cy="914400"/>
          </a:xfrm>
          <a:prstGeom prst="rect">
            <a:avLst/>
          </a:prstGeom>
        </p:spPr>
      </p:pic>
      <p:pic>
        <p:nvPicPr>
          <p:cNvPr id="344" name="iconNode3">
            <a:extLst>
              <a:ext uri="{FF2B5EF4-FFF2-40B4-BE49-F238E27FC236}">
                <a16:creationId xmlns:a16="http://schemas.microsoft.com/office/drawing/2014/main" id="{A8642F66-C0BB-4949-9A9C-024B120A5D52}"/>
              </a:ext>
            </a:extLst>
          </p:cNvPr>
          <p:cNvPicPr>
            <a:picLocks noChangeAspect="1"/>
          </p:cNvPicPr>
          <p:nvPr/>
        </p:nvPicPr>
        <p:blipFill rotWithShape="1">
          <a:blip r:embed="rId34">
            <a:alphaModFix/>
            <a:extLst>
              <a:ext uri="{47971A16-D31A-40B5-9F74-19B9EEEE8652}">
                <asvg:svgBlip xmlns="" xmlns:a16="http://schemas.microsoft.com/office/drawing/2014/main" xmlns:a14="http://schemas.microsoft.com/office/drawing/2010/main" xmlns:p14="http://schemas.microsoft.com/office/powerpoint/2010/main" xmlns:asvg="http://schemas.microsoft.com/office/drawing/2016/SVG/main" r:embed="rId41"/>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9334500" y="2765425"/>
            <a:ext cx="457200" cy="457200"/>
          </a:xfrm>
          <a:prstGeom prst="rect">
            <a:avLst/>
          </a:prstGeom>
        </p:spPr>
      </p:pic>
      <p:sp>
        <p:nvSpPr>
          <p:cNvPr id="346" name="Primary Heading-3">
            <a:extLst>
              <a:ext uri="{FF2B5EF4-FFF2-40B4-BE49-F238E27FC236}">
                <a16:creationId xmlns:a16="http://schemas.microsoft.com/office/drawing/2014/main" id="{111B4A49-B930-4A89-A1CD-6CA2B3D95AED}"/>
              </a:ext>
            </a:extLst>
          </p:cNvPr>
          <p:cNvSpPr txBox="1"/>
          <p:nvPr/>
        </p:nvSpPr>
        <p:spPr>
          <a:xfrm>
            <a:off x="9105900" y="3705226"/>
            <a:ext cx="2498725" cy="752707"/>
          </a:xfrm>
          <a:prstGeom prst="rect">
            <a:avLst/>
          </a:prstGeom>
          <a:noFill/>
        </p:spPr>
        <p:txBody>
          <a:bodyPr vertOverflow="clip" horzOverflow="clip" wrap="square" lIns="0" tIns="0" rIns="0" bIns="0" rtlCol="0" anchor="t">
            <a:spAutoFit/>
          </a:bodyPr>
          <a:lstStyle/>
          <a:p>
            <a:pPr>
              <a:lnSpc>
                <a:spcPts val="1988"/>
              </a:lnSpc>
            </a:pPr>
            <a:r>
              <a:rPr lang="en-US" sz="1400" spc="-35" dirty="0">
                <a:solidFill>
                  <a:srgbClr val="161723">
                    <a:alpha val="100000"/>
                  </a:srgbClr>
                </a:solidFill>
                <a:latin typeface="Inter SemiBold" panose="00000700000000000000" pitchFamily="2" charset="0"/>
              </a:rPr>
              <a:t>Supports autonomous coordination and learning aligned with human priorities</a:t>
            </a:r>
          </a:p>
        </p:txBody>
      </p:sp>
      <p:sp>
        <p:nvSpPr>
          <p:cNvPr id="348" name="Description of a primary heading-3">
            <a:extLst>
              <a:ext uri="{FF2B5EF4-FFF2-40B4-BE49-F238E27FC236}">
                <a16:creationId xmlns:a16="http://schemas.microsoft.com/office/drawing/2014/main" id="{111B4A49-B930-4A89-A1CD-6CA2B3D95AED}"/>
              </a:ext>
            </a:extLst>
          </p:cNvPr>
          <p:cNvSpPr txBox="1"/>
          <p:nvPr/>
        </p:nvSpPr>
        <p:spPr>
          <a:xfrm>
            <a:off x="9105900" y="4524375"/>
            <a:ext cx="2498725" cy="707117"/>
          </a:xfrm>
          <a:prstGeom prst="rect">
            <a:avLst/>
          </a:prstGeom>
          <a:noFill/>
        </p:spPr>
        <p:txBody>
          <a:bodyPr vertOverflow="clip" horzOverflow="clip" wrap="square" lIns="0" tIns="0" rIns="0" bIns="0" rtlCol="0" anchor="t">
            <a:spAutoFit/>
          </a:bodyPr>
          <a:lstStyle/>
          <a:p>
            <a:pPr>
              <a:lnSpc>
                <a:spcPts val="1400"/>
              </a:lnSpc>
            </a:pPr>
            <a:r>
              <a:rPr lang="en-US" sz="1000" spc="-20" dirty="0">
                <a:solidFill>
                  <a:srgbClr val="161723">
                    <a:alpha val="100000"/>
                  </a:srgbClr>
                </a:solidFill>
                <a:latin typeface="Inter" panose="00000700000000000000" pitchFamily="2" charset="0"/>
              </a:rPr>
              <a:t>While the AI learns and operates autonomously, it continuously aligns its actions with human goals and priorities, ensuring beneficial and safe AI behavior.</a:t>
            </a:r>
          </a:p>
        </p:txBody>
      </p:sp>
      <p:sp>
        <p:nvSpPr>
          <p:cNvPr id="350" name="Title 3">
            <a:extLst>
              <a:ext uri="{FF2B5EF4-FFF2-40B4-BE49-F238E27FC236}">
                <a16:creationId xmlns:a16="http://schemas.microsoft.com/office/drawing/2014/main" id="{111B4A49-B930-4A89-A1CD-6CA2B3D95AED}"/>
              </a:ext>
            </a:extLst>
          </p:cNvPr>
          <p:cNvSpPr txBox="1"/>
          <p:nvPr/>
        </p:nvSpPr>
        <p:spPr>
          <a:xfrm>
            <a:off x="609600" y="584200"/>
            <a:ext cx="8455025" cy="441018"/>
          </a:xfrm>
          <a:prstGeom prst="rect">
            <a:avLst/>
          </a:prstGeom>
          <a:noFill/>
        </p:spPr>
        <p:txBody>
          <a:bodyPr vertOverflow="clip" horzOverflow="clip" wrap="square" lIns="0" tIns="0" rIns="0" bIns="0" rtlCol="0" anchor="t">
            <a:spAutoFit/>
          </a:bodyPr>
          <a:lstStyle/>
          <a:p>
            <a:pPr>
              <a:lnSpc>
                <a:spcPts val="3584"/>
              </a:lnSpc>
            </a:pPr>
            <a:r>
              <a:rPr lang="en-US" sz="2800" spc="-70" dirty="0">
                <a:solidFill>
                  <a:srgbClr val="452E5A">
                    <a:alpha val="100000"/>
                  </a:srgbClr>
                </a:solidFill>
                <a:latin typeface="Inter" panose="00000700000000000000" pitchFamily="2" charset="0"/>
              </a:rPr>
              <a:t>Core Characteristics of Sovereign AI</a:t>
            </a:r>
          </a:p>
        </p:txBody>
      </p:sp>
      <p:sp>
        <p:nvSpPr>
          <p:cNvPr id="2" name="Footer Placeholder 1">
            <a:extLst>
              <a:ext uri="{FF2B5EF4-FFF2-40B4-BE49-F238E27FC236}">
                <a16:creationId xmlns:a16="http://schemas.microsoft.com/office/drawing/2014/main" id="{0A6A7418-DE91-8E9C-8BD3-B01D1028A0C4}"/>
              </a:ext>
            </a:extLst>
          </p:cNvPr>
          <p:cNvSpPr>
            <a:spLocks noGrp="1"/>
          </p:cNvSpPr>
          <p:nvPr>
            <p:ph type="ftr" sz="quarter" idx="11"/>
          </p:nvPr>
        </p:nvSpPr>
        <p:spPr/>
        <p:txBody>
          <a:bodyPr/>
          <a:lstStyle/>
          <a:p>
            <a:r>
              <a:rPr lang="en-US"/>
              <a:t>by Zoltan Pap © December 25, 2025</a:t>
            </a:r>
          </a:p>
        </p:txBody>
      </p:sp>
    </p:spTree>
    <p:extLst>
      <p:ext uri="{BB962C8B-B14F-4D97-AF65-F5344CB8AC3E}">
        <p14:creationId xmlns:p14="http://schemas.microsoft.com/office/powerpoint/2010/main" val="1413067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Computer script on a screen">
            <a:extLst>
              <a:ext uri="{FF2B5EF4-FFF2-40B4-BE49-F238E27FC236}">
                <a16:creationId xmlns:a16="http://schemas.microsoft.com/office/drawing/2014/main" id="{BE7722D3-4C38-2A62-4A41-249937E2FB3D}"/>
              </a:ext>
            </a:extLst>
          </p:cNvPr>
          <p:cNvPicPr>
            <a:picLocks noChangeAspect="1"/>
          </p:cNvPicPr>
          <p:nvPr/>
        </p:nvPicPr>
        <p:blipFill>
          <a:blip r:embed="rId2"/>
          <a:srcRect l="3784" r="43557" b="-2"/>
          <a:stretch>
            <a:fillRect/>
          </a:stretch>
        </p:blipFill>
        <p:spPr>
          <a:xfrm>
            <a:off x="-1" y="-2"/>
            <a:ext cx="5410198" cy="6858002"/>
          </a:xfrm>
          <a:prstGeom prst="rect">
            <a:avLst/>
          </a:prstGeom>
        </p:spPr>
      </p:pic>
      <p:sp useBgFill="1">
        <p:nvSpPr>
          <p:cNvPr id="12" name="Rectangle 11">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11C1E4-A90A-2959-3DED-3AA402465767}"/>
              </a:ext>
            </a:extLst>
          </p:cNvPr>
          <p:cNvSpPr>
            <a:spLocks noGrp="1"/>
          </p:cNvSpPr>
          <p:nvPr>
            <p:ph type="title"/>
          </p:nvPr>
        </p:nvSpPr>
        <p:spPr>
          <a:xfrm>
            <a:off x="6115317" y="405685"/>
            <a:ext cx="5464968" cy="1559301"/>
          </a:xfrm>
        </p:spPr>
        <p:txBody>
          <a:bodyPr>
            <a:normAutofit/>
          </a:bodyPr>
          <a:lstStyle/>
          <a:p>
            <a:r>
              <a:rPr lang="en-US" sz="4000"/>
              <a:t>What is Value-Based AI Programming</a:t>
            </a:r>
          </a:p>
        </p:txBody>
      </p:sp>
      <p:sp>
        <p:nvSpPr>
          <p:cNvPr id="3" name="Content Placeholder 2">
            <a:extLst>
              <a:ext uri="{FF2B5EF4-FFF2-40B4-BE49-F238E27FC236}">
                <a16:creationId xmlns:a16="http://schemas.microsoft.com/office/drawing/2014/main" id="{5831C2BA-5D9B-0526-E97A-F11096587CB5}"/>
              </a:ext>
            </a:extLst>
          </p:cNvPr>
          <p:cNvSpPr>
            <a:spLocks noGrp="1"/>
          </p:cNvSpPr>
          <p:nvPr>
            <p:ph idx="1"/>
          </p:nvPr>
        </p:nvSpPr>
        <p:spPr>
          <a:xfrm>
            <a:off x="6115317" y="2743200"/>
            <a:ext cx="5247340" cy="3496878"/>
          </a:xfrm>
        </p:spPr>
        <p:txBody>
          <a:bodyPr anchor="ctr">
            <a:normAutofit/>
          </a:bodyPr>
          <a:lstStyle/>
          <a:p>
            <a:r>
              <a:rPr lang="en-US" sz="2000" spc="-30">
                <a:latin typeface="Inter" panose="00000700000000000000" pitchFamily="2" charset="0"/>
              </a:rPr>
              <a:t>AI programming incorporating values from quality data, such as religions and social and psychological value principals.</a:t>
            </a:r>
          </a:p>
          <a:p>
            <a:r>
              <a:rPr lang="en-US" sz="2000" spc="-30">
                <a:latin typeface="Inter" panose="00000700000000000000" pitchFamily="2" charset="0"/>
              </a:rPr>
              <a:t>AI programming which provides the user to have AI decisions aligned with the user’s own values.</a:t>
            </a:r>
          </a:p>
          <a:p>
            <a:endParaRPr lang="en-US" sz="2000" spc="-30">
              <a:latin typeface="Inter" panose="00000700000000000000" pitchFamily="2" charset="0"/>
            </a:endParaRPr>
          </a:p>
          <a:p>
            <a:endParaRPr lang="en-US" sz="2000"/>
          </a:p>
        </p:txBody>
      </p:sp>
      <p:sp>
        <p:nvSpPr>
          <p:cNvPr id="4" name="Footer Placeholder 3">
            <a:extLst>
              <a:ext uri="{FF2B5EF4-FFF2-40B4-BE49-F238E27FC236}">
                <a16:creationId xmlns:a16="http://schemas.microsoft.com/office/drawing/2014/main" id="{13341164-A3F3-DAE9-6CCA-457A65EC02D7}"/>
              </a:ext>
            </a:extLst>
          </p:cNvPr>
          <p:cNvSpPr>
            <a:spLocks noGrp="1"/>
          </p:cNvSpPr>
          <p:nvPr>
            <p:ph type="ftr" sz="quarter" idx="11"/>
          </p:nvPr>
        </p:nvSpPr>
        <p:spPr>
          <a:xfrm>
            <a:off x="6005024" y="6356350"/>
            <a:ext cx="4323832" cy="365125"/>
          </a:xfrm>
        </p:spPr>
        <p:txBody>
          <a:bodyPr>
            <a:normAutofit/>
          </a:bodyPr>
          <a:lstStyle/>
          <a:p>
            <a:pPr algn="l">
              <a:spcAft>
                <a:spcPts val="600"/>
              </a:spcAft>
            </a:pPr>
            <a:r>
              <a:rPr lang="en-US" dirty="0">
                <a:solidFill>
                  <a:schemeClr val="tx1"/>
                </a:solidFill>
              </a:rPr>
              <a:t>by Zoltan Pap © December 25, 2025</a:t>
            </a:r>
          </a:p>
        </p:txBody>
      </p:sp>
    </p:spTree>
    <p:extLst>
      <p:ext uri="{BB962C8B-B14F-4D97-AF65-F5344CB8AC3E}">
        <p14:creationId xmlns:p14="http://schemas.microsoft.com/office/powerpoint/2010/main" val="7497419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10401"/>
            <a:ext cx="12192000" cy="6858000"/>
          </a:xfrm>
          <a:prstGeom prst="rect">
            <a:avLst/>
          </a:prstGeom>
        </p:spPr>
      </p:pic>
      <p:pic>
        <p:nvPicPr>
          <p:cNvPr id="39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4114800"/>
            <a:ext cx="3168650" cy="2743200"/>
          </a:xfrm>
          <a:prstGeom prst="rect">
            <a:avLst/>
          </a:prstGeom>
        </p:spPr>
      </p:pic>
      <p:pic>
        <p:nvPicPr>
          <p:cNvPr id="396" name="13dd45c7-b617-4742-bc55-da564324ca17">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4">
            <a:alphaModFix/>
          </a:blip>
          <a:stretch/>
        </p:blipFill>
        <p:spPr>
          <a:xfrm>
            <a:off x="609600" y="1701800"/>
            <a:ext cx="3632200" cy="4546600"/>
          </a:xfrm>
          <a:prstGeom prst="rect">
            <a:avLst/>
          </a:prstGeom>
        </p:spPr>
      </p:pic>
      <p:pic>
        <p:nvPicPr>
          <p:cNvPr id="39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6019800" y="1981200"/>
            <a:ext cx="533400" cy="533400"/>
          </a:xfrm>
          <a:prstGeom prst="rect">
            <a:avLst/>
          </a:prstGeom>
        </p:spPr>
      </p:pic>
      <p:pic>
        <p:nvPicPr>
          <p:cNvPr id="400" name="iconNode0">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extLst>
              <a:ext uri="{227BB1F2-F673-4213-9187-7E3D2593B152}">
                <asvg:svgBlip xmlns="" xmlns:a16="http://schemas.microsoft.com/office/drawing/2014/main" xmlns:a14="http://schemas.microsoft.com/office/drawing/2010/main" xmlns:p14="http://schemas.microsoft.com/office/powerpoint/2010/main" xmlns:asvg="http://schemas.microsoft.com/office/drawing/2016/SVG/main" r:embed="rId78"/>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153150" y="2114550"/>
            <a:ext cx="266700" cy="266700"/>
          </a:xfrm>
          <a:prstGeom prst="rect">
            <a:avLst/>
          </a:prstGeom>
        </p:spPr>
      </p:pic>
      <p:sp>
        <p:nvSpPr>
          <p:cNvPr id="402" name="Primary Heading-0">
            <a:extLst>
              <a:ext uri="{FF2B5EF4-FFF2-40B4-BE49-F238E27FC236}">
                <a16:creationId xmlns:a16="http://schemas.microsoft.com/office/drawing/2014/main" id="{111B4A49-B930-4A89-A1CD-6CA2B3D95AED}"/>
              </a:ext>
            </a:extLst>
          </p:cNvPr>
          <p:cNvSpPr txBox="1"/>
          <p:nvPr/>
        </p:nvSpPr>
        <p:spPr>
          <a:xfrm>
            <a:off x="4622800" y="2641600"/>
            <a:ext cx="3349625" cy="239746"/>
          </a:xfrm>
          <a:prstGeom prst="rect">
            <a:avLst/>
          </a:prstGeom>
          <a:noFill/>
        </p:spPr>
        <p:txBody>
          <a:bodyPr vertOverflow="clip" horzOverflow="clip" wrap="square" lIns="0" tIns="0" rIns="0" bIns="0" rtlCol="0" anchor="t">
            <a:spAutoFit/>
          </a:bodyPr>
          <a:lstStyle/>
          <a:p>
            <a:pPr algn="ctr">
              <a:lnSpc>
                <a:spcPts val="1988"/>
              </a:lnSpc>
            </a:pPr>
            <a:r>
              <a:rPr lang="en-US" sz="1400" spc="-35" dirty="0">
                <a:solidFill>
                  <a:srgbClr val="161723">
                    <a:alpha val="100000"/>
                  </a:srgbClr>
                </a:solidFill>
                <a:latin typeface="Inter SemiBold" panose="00000700000000000000" pitchFamily="2" charset="0"/>
              </a:rPr>
              <a:t>Mimics the human user as a digital twin</a:t>
            </a:r>
          </a:p>
        </p:txBody>
      </p:sp>
      <p:sp>
        <p:nvSpPr>
          <p:cNvPr id="404" name="Description of a primary heading-0">
            <a:extLst>
              <a:ext uri="{FF2B5EF4-FFF2-40B4-BE49-F238E27FC236}">
                <a16:creationId xmlns:a16="http://schemas.microsoft.com/office/drawing/2014/main" id="{111B4A49-B930-4A89-A1CD-6CA2B3D95AED}"/>
              </a:ext>
            </a:extLst>
          </p:cNvPr>
          <p:cNvSpPr txBox="1"/>
          <p:nvPr/>
        </p:nvSpPr>
        <p:spPr>
          <a:xfrm>
            <a:off x="4622800" y="2944813"/>
            <a:ext cx="3349625" cy="488916"/>
          </a:xfrm>
          <a:prstGeom prst="rect">
            <a:avLst/>
          </a:prstGeom>
          <a:noFill/>
        </p:spPr>
        <p:txBody>
          <a:bodyPr vertOverflow="clip" horzOverflow="clip" wrap="square" lIns="0" tIns="0" rIns="0" bIns="0" rtlCol="0" anchor="t">
            <a:spAutoFit/>
          </a:bodyPr>
          <a:lstStyle/>
          <a:p>
            <a:pPr algn="ctr">
              <a:lnSpc>
                <a:spcPts val="1296"/>
              </a:lnSpc>
            </a:pPr>
            <a:r>
              <a:rPr lang="en-US" sz="900" spc="-18" dirty="0">
                <a:solidFill>
                  <a:srgbClr val="161723">
                    <a:alpha val="100000"/>
                  </a:srgbClr>
                </a:solidFill>
                <a:latin typeface="Inter" panose="00000700000000000000" pitchFamily="2" charset="0"/>
              </a:rPr>
              <a:t>Sovereign AI is designed to replicate the human user digitally, ensuring it aligns closely with their personal values and behaviors for better customization and trust.</a:t>
            </a:r>
          </a:p>
        </p:txBody>
      </p:sp>
      <p:pic>
        <p:nvPicPr>
          <p:cNvPr id="40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652000" y="1981200"/>
            <a:ext cx="533400" cy="533400"/>
          </a:xfrm>
          <a:prstGeom prst="rect">
            <a:avLst/>
          </a:prstGeom>
        </p:spPr>
      </p:pic>
      <p:pic>
        <p:nvPicPr>
          <p:cNvPr id="408" name="iconNode1">
            <a:extLst>
              <a:ext uri="{FF2B5EF4-FFF2-40B4-BE49-F238E27FC236}">
                <a16:creationId xmlns:a16="http://schemas.microsoft.com/office/drawing/2014/main" id="{A8642F66-C0BB-4949-9A9C-024B120A5D52}"/>
              </a:ext>
            </a:extLst>
          </p:cNvPr>
          <p:cNvPicPr>
            <a:picLocks noChangeAspect="1"/>
          </p:cNvPicPr>
          <p:nvPr/>
        </p:nvPicPr>
        <p:blipFill rotWithShape="1">
          <a:blip r:embed="rId79">
            <a:alphaModFix/>
            <a:extLst>
              <a:ext uri="{D0B554EE-93BA-417D-B7D7-B9B759C1A965}">
                <asvg:svgBlip xmlns="" xmlns:a16="http://schemas.microsoft.com/office/drawing/2014/main" xmlns:a14="http://schemas.microsoft.com/office/drawing/2010/main" xmlns:p14="http://schemas.microsoft.com/office/powerpoint/2010/main" xmlns:asvg="http://schemas.microsoft.com/office/drawing/2016/SVG/main" r:embed="rId83"/>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9785350" y="2114550"/>
            <a:ext cx="266700" cy="266700"/>
          </a:xfrm>
          <a:prstGeom prst="rect">
            <a:avLst/>
          </a:prstGeom>
        </p:spPr>
      </p:pic>
      <p:sp>
        <p:nvSpPr>
          <p:cNvPr id="410" name="Primary Heading-1">
            <a:extLst>
              <a:ext uri="{FF2B5EF4-FFF2-40B4-BE49-F238E27FC236}">
                <a16:creationId xmlns:a16="http://schemas.microsoft.com/office/drawing/2014/main" id="{111B4A49-B930-4A89-A1CD-6CA2B3D95AED}"/>
              </a:ext>
            </a:extLst>
          </p:cNvPr>
          <p:cNvSpPr txBox="1"/>
          <p:nvPr/>
        </p:nvSpPr>
        <p:spPr>
          <a:xfrm>
            <a:off x="8255000" y="2641600"/>
            <a:ext cx="3349625" cy="239746"/>
          </a:xfrm>
          <a:prstGeom prst="rect">
            <a:avLst/>
          </a:prstGeom>
          <a:noFill/>
        </p:spPr>
        <p:txBody>
          <a:bodyPr vertOverflow="clip" horzOverflow="clip" wrap="square" lIns="0" tIns="0" rIns="0" bIns="0" rtlCol="0" anchor="t">
            <a:spAutoFit/>
          </a:bodyPr>
          <a:lstStyle/>
          <a:p>
            <a:pPr algn="ctr">
              <a:lnSpc>
                <a:spcPts val="1988"/>
              </a:lnSpc>
            </a:pPr>
            <a:r>
              <a:rPr lang="en-US" sz="1400" spc="-35" dirty="0">
                <a:solidFill>
                  <a:srgbClr val="161723">
                    <a:alpha val="100000"/>
                  </a:srgbClr>
                </a:solidFill>
                <a:latin typeface="Inter SemiBold" panose="00000700000000000000" pitchFamily="2" charset="0"/>
              </a:rPr>
              <a:t>Incorporates user’s values into programming</a:t>
            </a:r>
          </a:p>
        </p:txBody>
      </p:sp>
      <p:sp>
        <p:nvSpPr>
          <p:cNvPr id="412" name="Description of a primary heading-1">
            <a:extLst>
              <a:ext uri="{FF2B5EF4-FFF2-40B4-BE49-F238E27FC236}">
                <a16:creationId xmlns:a16="http://schemas.microsoft.com/office/drawing/2014/main" id="{111B4A49-B930-4A89-A1CD-6CA2B3D95AED}"/>
              </a:ext>
            </a:extLst>
          </p:cNvPr>
          <p:cNvSpPr txBox="1"/>
          <p:nvPr/>
        </p:nvSpPr>
        <p:spPr>
          <a:xfrm>
            <a:off x="8243887" y="2944813"/>
            <a:ext cx="3349625" cy="322204"/>
          </a:xfrm>
          <a:prstGeom prst="rect">
            <a:avLst/>
          </a:prstGeom>
          <a:noFill/>
        </p:spPr>
        <p:txBody>
          <a:bodyPr vertOverflow="clip" horzOverflow="clip" wrap="square" lIns="0" tIns="0" rIns="0" bIns="0" rtlCol="0" anchor="t">
            <a:spAutoFit/>
          </a:bodyPr>
          <a:lstStyle/>
          <a:p>
            <a:pPr algn="ctr">
              <a:lnSpc>
                <a:spcPts val="1296"/>
              </a:lnSpc>
            </a:pPr>
            <a:r>
              <a:rPr lang="en-US" sz="900" spc="-18" dirty="0">
                <a:solidFill>
                  <a:srgbClr val="161723">
                    <a:alpha val="100000"/>
                  </a:srgbClr>
                </a:solidFill>
                <a:latin typeface="Inter" panose="00000700000000000000" pitchFamily="2" charset="0"/>
              </a:rPr>
              <a:t>The AI directly integrates the individual’s values into its core programming, making decisions that reflect personal ethics and preferences.</a:t>
            </a:r>
          </a:p>
        </p:txBody>
      </p:sp>
      <p:pic>
        <p:nvPicPr>
          <p:cNvPr id="41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6019800" y="4127500"/>
            <a:ext cx="533400" cy="533400"/>
          </a:xfrm>
          <a:prstGeom prst="rect">
            <a:avLst/>
          </a:prstGeom>
        </p:spPr>
      </p:pic>
      <p:pic>
        <p:nvPicPr>
          <p:cNvPr id="416" name="iconNode2">
            <a:extLst>
              <a:ext uri="{FF2B5EF4-FFF2-40B4-BE49-F238E27FC236}">
                <a16:creationId xmlns:a16="http://schemas.microsoft.com/office/drawing/2014/main" id="{A8642F66-C0BB-4949-9A9C-024B120A5D52}"/>
              </a:ext>
            </a:extLst>
          </p:cNvPr>
          <p:cNvPicPr>
            <a:picLocks noChangeAspect="1"/>
          </p:cNvPicPr>
          <p:nvPr/>
        </p:nvPicPr>
        <p:blipFill rotWithShape="1">
          <a:blip r:embed="rId84">
            <a:alphaModFix/>
          </a:blip>
          <a:stretch/>
        </p:blipFill>
        <p:spPr>
          <a:xfrm>
            <a:off x="6153150" y="4260850"/>
            <a:ext cx="266700" cy="266700"/>
          </a:xfrm>
          <a:prstGeom prst="rect">
            <a:avLst/>
          </a:prstGeom>
        </p:spPr>
      </p:pic>
      <p:sp>
        <p:nvSpPr>
          <p:cNvPr id="418" name="Primary Heading-2">
            <a:extLst>
              <a:ext uri="{FF2B5EF4-FFF2-40B4-BE49-F238E27FC236}">
                <a16:creationId xmlns:a16="http://schemas.microsoft.com/office/drawing/2014/main" id="{111B4A49-B930-4A89-A1CD-6CA2B3D95AED}"/>
              </a:ext>
            </a:extLst>
          </p:cNvPr>
          <p:cNvSpPr txBox="1"/>
          <p:nvPr/>
        </p:nvSpPr>
        <p:spPr>
          <a:xfrm>
            <a:off x="4622800" y="4787900"/>
            <a:ext cx="3349625" cy="239746"/>
          </a:xfrm>
          <a:prstGeom prst="rect">
            <a:avLst/>
          </a:prstGeom>
          <a:noFill/>
        </p:spPr>
        <p:txBody>
          <a:bodyPr vertOverflow="clip" horzOverflow="clip" wrap="square" lIns="0" tIns="0" rIns="0" bIns="0" rtlCol="0" anchor="t">
            <a:spAutoFit/>
          </a:bodyPr>
          <a:lstStyle/>
          <a:p>
            <a:pPr algn="ctr">
              <a:lnSpc>
                <a:spcPts val="1988"/>
              </a:lnSpc>
            </a:pPr>
            <a:r>
              <a:rPr lang="en-US" sz="1400" spc="-35" dirty="0">
                <a:solidFill>
                  <a:srgbClr val="161723">
                    <a:alpha val="100000"/>
                  </a:srgbClr>
                </a:solidFill>
                <a:latin typeface="Inter SemiBold" panose="00000700000000000000" pitchFamily="2" charset="0"/>
              </a:rPr>
              <a:t>Operates under the user's design and control</a:t>
            </a:r>
          </a:p>
        </p:txBody>
      </p:sp>
      <p:sp>
        <p:nvSpPr>
          <p:cNvPr id="420" name="Description of a primary heading-2">
            <a:extLst>
              <a:ext uri="{FF2B5EF4-FFF2-40B4-BE49-F238E27FC236}">
                <a16:creationId xmlns:a16="http://schemas.microsoft.com/office/drawing/2014/main" id="{111B4A49-B930-4A89-A1CD-6CA2B3D95AED}"/>
              </a:ext>
            </a:extLst>
          </p:cNvPr>
          <p:cNvSpPr txBox="1"/>
          <p:nvPr/>
        </p:nvSpPr>
        <p:spPr>
          <a:xfrm>
            <a:off x="4622800" y="5171983"/>
            <a:ext cx="3349625" cy="655629"/>
          </a:xfrm>
          <a:prstGeom prst="rect">
            <a:avLst/>
          </a:prstGeom>
          <a:noFill/>
        </p:spPr>
        <p:txBody>
          <a:bodyPr vertOverflow="clip" horzOverflow="clip" wrap="square" lIns="0" tIns="0" rIns="0" bIns="0" rtlCol="0" anchor="t">
            <a:spAutoFit/>
          </a:bodyPr>
          <a:lstStyle/>
          <a:p>
            <a:pPr algn="ctr">
              <a:lnSpc>
                <a:spcPts val="1296"/>
              </a:lnSpc>
            </a:pPr>
            <a:r>
              <a:rPr lang="en-US" sz="900" spc="-18" dirty="0">
                <a:solidFill>
                  <a:srgbClr val="161723">
                    <a:alpha val="100000"/>
                  </a:srgbClr>
                </a:solidFill>
                <a:latin typeface="Inter" panose="00000700000000000000" pitchFamily="2" charset="0"/>
              </a:rPr>
              <a:t>Sovereign AI follows the commands and controls set by its human user(s), ensuring that autonomy remains with the person rather than a third party AI agent.</a:t>
            </a:r>
          </a:p>
          <a:p>
            <a:pPr algn="ctr">
              <a:lnSpc>
                <a:spcPts val="1296"/>
              </a:lnSpc>
            </a:pPr>
            <a:r>
              <a:rPr lang="en-US" sz="900" spc="-18" dirty="0">
                <a:solidFill>
                  <a:srgbClr val="161723">
                    <a:alpha val="100000"/>
                  </a:srgbClr>
                </a:solidFill>
                <a:latin typeface="Inter" panose="00000700000000000000" pitchFamily="2" charset="0"/>
              </a:rPr>
              <a:t> </a:t>
            </a:r>
          </a:p>
        </p:txBody>
      </p:sp>
      <p:pic>
        <p:nvPicPr>
          <p:cNvPr id="4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652000" y="4127500"/>
            <a:ext cx="533400" cy="533400"/>
          </a:xfrm>
          <a:prstGeom prst="rect">
            <a:avLst/>
          </a:prstGeom>
        </p:spPr>
      </p:pic>
      <p:pic>
        <p:nvPicPr>
          <p:cNvPr id="426" name="iconNode3">
            <a:extLst>
              <a:ext uri="{FF2B5EF4-FFF2-40B4-BE49-F238E27FC236}">
                <a16:creationId xmlns:a16="http://schemas.microsoft.com/office/drawing/2014/main" id="{A8642F66-C0BB-4949-9A9C-024B120A5D52}"/>
              </a:ext>
            </a:extLst>
          </p:cNvPr>
          <p:cNvPicPr>
            <a:picLocks noChangeAspect="1"/>
          </p:cNvPicPr>
          <p:nvPr/>
        </p:nvPicPr>
        <p:blipFill rotWithShape="1">
          <a:blip r:embed="rId85">
            <a:alphaModFix/>
          </a:blip>
          <a:stretch/>
        </p:blipFill>
        <p:spPr>
          <a:xfrm>
            <a:off x="9785350" y="4260850"/>
            <a:ext cx="266700" cy="266700"/>
          </a:xfrm>
          <a:prstGeom prst="rect">
            <a:avLst/>
          </a:prstGeom>
        </p:spPr>
      </p:pic>
      <p:sp>
        <p:nvSpPr>
          <p:cNvPr id="428" name="Primary Heading-3">
            <a:extLst>
              <a:ext uri="{FF2B5EF4-FFF2-40B4-BE49-F238E27FC236}">
                <a16:creationId xmlns:a16="http://schemas.microsoft.com/office/drawing/2014/main" id="{111B4A49-B930-4A89-A1CD-6CA2B3D95AED}"/>
              </a:ext>
            </a:extLst>
          </p:cNvPr>
          <p:cNvSpPr txBox="1"/>
          <p:nvPr/>
        </p:nvSpPr>
        <p:spPr>
          <a:xfrm>
            <a:off x="8255000" y="4765951"/>
            <a:ext cx="3349625" cy="239746"/>
          </a:xfrm>
          <a:prstGeom prst="rect">
            <a:avLst/>
          </a:prstGeom>
          <a:noFill/>
        </p:spPr>
        <p:txBody>
          <a:bodyPr vertOverflow="clip" horzOverflow="clip" wrap="square" lIns="0" tIns="0" rIns="0" bIns="0" rtlCol="0" anchor="t">
            <a:spAutoFit/>
          </a:bodyPr>
          <a:lstStyle/>
          <a:p>
            <a:pPr algn="ctr">
              <a:lnSpc>
                <a:spcPts val="1988"/>
              </a:lnSpc>
            </a:pPr>
            <a:r>
              <a:rPr lang="en-US" sz="1400" spc="-35" dirty="0">
                <a:solidFill>
                  <a:srgbClr val="161723">
                    <a:alpha val="100000"/>
                  </a:srgbClr>
                </a:solidFill>
                <a:latin typeface="Inter SemiBold" panose="00000700000000000000" pitchFamily="2" charset="0"/>
              </a:rPr>
              <a:t>Enhances human capability </a:t>
            </a:r>
          </a:p>
        </p:txBody>
      </p:sp>
      <p:sp>
        <p:nvSpPr>
          <p:cNvPr id="430" name="Description of a primary heading-3">
            <a:extLst>
              <a:ext uri="{FF2B5EF4-FFF2-40B4-BE49-F238E27FC236}">
                <a16:creationId xmlns:a16="http://schemas.microsoft.com/office/drawing/2014/main" id="{111B4A49-B930-4A89-A1CD-6CA2B3D95AED}"/>
              </a:ext>
            </a:extLst>
          </p:cNvPr>
          <p:cNvSpPr txBox="1"/>
          <p:nvPr/>
        </p:nvSpPr>
        <p:spPr>
          <a:xfrm>
            <a:off x="8255000" y="5171983"/>
            <a:ext cx="3349625" cy="488916"/>
          </a:xfrm>
          <a:prstGeom prst="rect">
            <a:avLst/>
          </a:prstGeom>
          <a:noFill/>
        </p:spPr>
        <p:txBody>
          <a:bodyPr vertOverflow="clip" horzOverflow="clip" wrap="square" lIns="0" tIns="0" rIns="0" bIns="0" rtlCol="0" anchor="t">
            <a:spAutoFit/>
          </a:bodyPr>
          <a:lstStyle/>
          <a:p>
            <a:pPr algn="ctr">
              <a:lnSpc>
                <a:spcPts val="1296"/>
              </a:lnSpc>
            </a:pPr>
            <a:r>
              <a:rPr lang="en-US" sz="900" spc="-18" dirty="0">
                <a:solidFill>
                  <a:srgbClr val="161723">
                    <a:alpha val="100000"/>
                  </a:srgbClr>
                </a:solidFill>
                <a:latin typeface="Inter" panose="00000700000000000000" pitchFamily="2" charset="0"/>
              </a:rPr>
              <a:t>Sovereign AI supports humans in their activities by assisting with repetitive tasks and in trusted decision-making, offer suggestions, summaries, or alerts in trust.</a:t>
            </a:r>
          </a:p>
        </p:txBody>
      </p:sp>
      <p:sp>
        <p:nvSpPr>
          <p:cNvPr id="432" name="Title 3">
            <a:extLst>
              <a:ext uri="{FF2B5EF4-FFF2-40B4-BE49-F238E27FC236}">
                <a16:creationId xmlns:a16="http://schemas.microsoft.com/office/drawing/2014/main" id="{111B4A49-B930-4A89-A1CD-6CA2B3D95AED}"/>
              </a:ext>
            </a:extLst>
          </p:cNvPr>
          <p:cNvSpPr txBox="1"/>
          <p:nvPr/>
        </p:nvSpPr>
        <p:spPr>
          <a:xfrm>
            <a:off x="609600" y="584200"/>
            <a:ext cx="8455025" cy="441018"/>
          </a:xfrm>
          <a:prstGeom prst="rect">
            <a:avLst/>
          </a:prstGeom>
          <a:noFill/>
        </p:spPr>
        <p:txBody>
          <a:bodyPr vertOverflow="clip" horzOverflow="clip" wrap="square" lIns="0" tIns="0" rIns="0" bIns="0" rtlCol="0" anchor="t">
            <a:spAutoFit/>
          </a:bodyPr>
          <a:lstStyle/>
          <a:p>
            <a:pPr>
              <a:lnSpc>
                <a:spcPts val="3584"/>
              </a:lnSpc>
            </a:pPr>
            <a:r>
              <a:rPr lang="en-US" sz="2800" spc="-70" dirty="0">
                <a:solidFill>
                  <a:srgbClr val="452E5A">
                    <a:alpha val="100000"/>
                  </a:srgbClr>
                </a:solidFill>
                <a:latin typeface="Inter" panose="00000700000000000000" pitchFamily="2" charset="0"/>
              </a:rPr>
              <a:t>Why Sovereign AI is Value-Based</a:t>
            </a:r>
          </a:p>
        </p:txBody>
      </p:sp>
      <p:sp>
        <p:nvSpPr>
          <p:cNvPr id="434" name="SubTitle">
            <a:extLst>
              <a:ext uri="{FF2B5EF4-FFF2-40B4-BE49-F238E27FC236}">
                <a16:creationId xmlns:a16="http://schemas.microsoft.com/office/drawing/2014/main" id="{111B4A49-B930-4A89-A1CD-6CA2B3D95AED}"/>
              </a:ext>
            </a:extLst>
          </p:cNvPr>
          <p:cNvSpPr txBox="1"/>
          <p:nvPr/>
        </p:nvSpPr>
        <p:spPr>
          <a:xfrm>
            <a:off x="609600" y="1117600"/>
            <a:ext cx="8455025" cy="204158"/>
          </a:xfrm>
          <a:prstGeom prst="rect">
            <a:avLst/>
          </a:prstGeom>
          <a:noFill/>
        </p:spPr>
        <p:txBody>
          <a:bodyPr vertOverflow="clip" horzOverflow="clip" wrap="square" lIns="0" tIns="0" rIns="0" bIns="0" rtlCol="0" anchor="t">
            <a:spAutoFit/>
          </a:bodyPr>
          <a:lstStyle/>
          <a:p>
            <a:pPr>
              <a:lnSpc>
                <a:spcPts val="1704"/>
              </a:lnSpc>
            </a:pPr>
            <a:r>
              <a:rPr lang="en-US" sz="1200" spc="-24" dirty="0">
                <a:solidFill>
                  <a:srgbClr val="6E6E74">
                    <a:alpha val="100000"/>
                  </a:srgbClr>
                </a:solidFill>
                <a:latin typeface="Inter" panose="00000700000000000000" pitchFamily="2" charset="0"/>
              </a:rPr>
              <a:t>Explaining how Sovereign AI aligns technology with individual human values and control</a:t>
            </a:r>
          </a:p>
        </p:txBody>
      </p:sp>
      <p:sp>
        <p:nvSpPr>
          <p:cNvPr id="2" name="Footer Placeholder 1">
            <a:extLst>
              <a:ext uri="{FF2B5EF4-FFF2-40B4-BE49-F238E27FC236}">
                <a16:creationId xmlns:a16="http://schemas.microsoft.com/office/drawing/2014/main" id="{A7773B2D-FB8A-BE74-8E16-7444AAF82AB7}"/>
              </a:ext>
            </a:extLst>
          </p:cNvPr>
          <p:cNvSpPr>
            <a:spLocks noGrp="1"/>
          </p:cNvSpPr>
          <p:nvPr>
            <p:ph type="ftr" sz="quarter" idx="11"/>
          </p:nvPr>
        </p:nvSpPr>
        <p:spPr/>
        <p:txBody>
          <a:bodyPr/>
          <a:lstStyle/>
          <a:p>
            <a:r>
              <a:rPr lang="en-US"/>
              <a:t>by Zoltan Pap © December 25, 2025</a:t>
            </a:r>
          </a:p>
        </p:txBody>
      </p:sp>
    </p:spTree>
    <p:extLst>
      <p:ext uri="{BB962C8B-B14F-4D97-AF65-F5344CB8AC3E}">
        <p14:creationId xmlns:p14="http://schemas.microsoft.com/office/powerpoint/2010/main" val="454537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2192000" cy="6858000"/>
          </a:xfrm>
          <a:prstGeom prst="rect">
            <a:avLst/>
          </a:prstGeom>
        </p:spPr>
      </p:pic>
      <p:pic>
        <p:nvPicPr>
          <p:cNvPr id="303"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3">
            <a:alphaModFix/>
          </a:blip>
          <a:stretch/>
        </p:blipFill>
        <p:spPr>
          <a:xfrm>
            <a:off x="0" y="0"/>
            <a:ext cx="12192000" cy="6858000"/>
          </a:xfrm>
          <a:prstGeom prst="rect">
            <a:avLst/>
          </a:prstGeom>
        </p:spPr>
      </p:pic>
      <p:pic>
        <p:nvPicPr>
          <p:cNvPr id="30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0" y="2947095"/>
            <a:ext cx="7594600" cy="3403600"/>
          </a:xfrm>
          <a:prstGeom prst="rect">
            <a:avLst/>
          </a:prstGeom>
        </p:spPr>
      </p:pic>
      <p:sp>
        <p:nvSpPr>
          <p:cNvPr id="309" name="Title 3">
            <a:extLst>
              <a:ext uri="{FF2B5EF4-FFF2-40B4-BE49-F238E27FC236}">
                <a16:creationId xmlns:a16="http://schemas.microsoft.com/office/drawing/2014/main" id="{111B4A49-B930-4A89-A1CD-6CA2B3D95AED}"/>
              </a:ext>
            </a:extLst>
          </p:cNvPr>
          <p:cNvSpPr txBox="1"/>
          <p:nvPr/>
        </p:nvSpPr>
        <p:spPr>
          <a:xfrm>
            <a:off x="508000" y="3455099"/>
            <a:ext cx="5394325" cy="1935145"/>
          </a:xfrm>
          <a:prstGeom prst="rect">
            <a:avLst/>
          </a:prstGeom>
          <a:noFill/>
        </p:spPr>
        <p:txBody>
          <a:bodyPr vertOverflow="clip" horzOverflow="clip" wrap="square" lIns="0" tIns="0" rIns="0" bIns="0" rtlCol="0" anchor="t">
            <a:spAutoFit/>
          </a:bodyPr>
          <a:lstStyle/>
          <a:p>
            <a:pPr>
              <a:lnSpc>
                <a:spcPts val="3780"/>
              </a:lnSpc>
            </a:pPr>
            <a:r>
              <a:rPr lang="en-US" sz="2800" spc="-61" dirty="0">
                <a:solidFill>
                  <a:srgbClr val="07071B">
                    <a:alpha val="100000"/>
                  </a:srgbClr>
                </a:solidFill>
                <a:latin typeface="Poppins SemiBold" panose="00000700000000000000" pitchFamily="2" charset="0"/>
              </a:rPr>
              <a:t>DESIGNING AI FOR HUMAN VALUES AND THE CONNECTION TO CATHOLIC SOCIAL TEACHING</a:t>
            </a:r>
            <a:endParaRPr lang="en-US" sz="2800" b="1" spc="-61" dirty="0">
              <a:solidFill>
                <a:srgbClr val="07071B"/>
              </a:solidFill>
              <a:latin typeface="Poppins SemiBold" panose="00000700000000000000" pitchFamily="2" charset="0"/>
            </a:endParaRPr>
          </a:p>
        </p:txBody>
      </p:sp>
      <p:sp>
        <p:nvSpPr>
          <p:cNvPr id="2" name="Footer Placeholder 1">
            <a:extLst>
              <a:ext uri="{FF2B5EF4-FFF2-40B4-BE49-F238E27FC236}">
                <a16:creationId xmlns:a16="http://schemas.microsoft.com/office/drawing/2014/main" id="{D418E9D8-6C20-5789-0205-9FBA27E0A78B}"/>
              </a:ext>
            </a:extLst>
          </p:cNvPr>
          <p:cNvSpPr>
            <a:spLocks noGrp="1"/>
          </p:cNvSpPr>
          <p:nvPr>
            <p:ph type="ftr" sz="quarter" idx="11"/>
          </p:nvPr>
        </p:nvSpPr>
        <p:spPr/>
        <p:txBody>
          <a:bodyPr/>
          <a:lstStyle/>
          <a:p>
            <a:r>
              <a:rPr lang="en-US"/>
              <a:t>by Zoltan Pap © December 25, 2025</a:t>
            </a:r>
          </a:p>
        </p:txBody>
      </p:sp>
    </p:spTree>
    <p:extLst>
      <p:ext uri="{BB962C8B-B14F-4D97-AF65-F5344CB8AC3E}">
        <p14:creationId xmlns:p14="http://schemas.microsoft.com/office/powerpoint/2010/main" val="4282284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2192000" cy="6858000"/>
          </a:xfrm>
          <a:prstGeom prst="rect">
            <a:avLst/>
          </a:prstGeom>
        </p:spPr>
      </p:pic>
      <p:pic>
        <p:nvPicPr>
          <p:cNvPr id="31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2192000" cy="6858000"/>
          </a:xfrm>
          <a:prstGeom prst="rect">
            <a:avLst/>
          </a:prstGeom>
        </p:spPr>
      </p:pic>
      <p:pic>
        <p:nvPicPr>
          <p:cNvPr id="31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0" y="5137249"/>
            <a:ext cx="1574800" cy="1720751"/>
          </a:xfrm>
          <a:prstGeom prst="rect">
            <a:avLst/>
          </a:prstGeom>
        </p:spPr>
      </p:pic>
      <p:pic>
        <p:nvPicPr>
          <p:cNvPr id="31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0376592" y="0"/>
            <a:ext cx="1815405" cy="1917700"/>
          </a:xfrm>
          <a:prstGeom prst="rect">
            <a:avLst/>
          </a:prstGeom>
        </p:spPr>
      </p:pic>
      <p:sp>
        <p:nvSpPr>
          <p:cNvPr id="319" name="Primary Heading-0">
            <a:extLst>
              <a:ext uri="{FF2B5EF4-FFF2-40B4-BE49-F238E27FC236}">
                <a16:creationId xmlns:a16="http://schemas.microsoft.com/office/drawing/2014/main" id="{111B4A49-B930-4A89-A1CD-6CA2B3D95AED}"/>
              </a:ext>
            </a:extLst>
          </p:cNvPr>
          <p:cNvSpPr txBox="1"/>
          <p:nvPr/>
        </p:nvSpPr>
        <p:spPr>
          <a:xfrm>
            <a:off x="571500" y="4511675"/>
            <a:ext cx="3622675" cy="255839"/>
          </a:xfrm>
          <a:prstGeom prst="rect">
            <a:avLst/>
          </a:prstGeom>
          <a:noFill/>
        </p:spPr>
        <p:txBody>
          <a:bodyPr vertOverflow="clip" horzOverflow="clip" wrap="square" lIns="0" tIns="0" rIns="0" bIns="0" rtlCol="0" anchor="t">
            <a:spAutoFit/>
          </a:bodyPr>
          <a:lstStyle/>
          <a:p>
            <a:pPr algn="ctr">
              <a:lnSpc>
                <a:spcPts val="2100"/>
              </a:lnSpc>
            </a:pPr>
            <a:r>
              <a:rPr lang="en-US" sz="1400" spc="-25" dirty="0">
                <a:solidFill>
                  <a:srgbClr val="07071B">
                    <a:alpha val="100000"/>
                  </a:srgbClr>
                </a:solidFill>
                <a:latin typeface="Poppins SemiBold" panose="00000700000000000000" pitchFamily="2" charset="0"/>
              </a:rPr>
              <a:t>—</a:t>
            </a:r>
          </a:p>
        </p:txBody>
      </p:sp>
      <p:sp>
        <p:nvSpPr>
          <p:cNvPr id="320" name="Description of a primary heading-0">
            <a:extLst>
              <a:ext uri="{FF2B5EF4-FFF2-40B4-BE49-F238E27FC236}">
                <a16:creationId xmlns:a16="http://schemas.microsoft.com/office/drawing/2014/main" id="{111B4A49-B930-4A89-A1CD-6CA2B3D95AED}"/>
              </a:ext>
            </a:extLst>
          </p:cNvPr>
          <p:cNvSpPr txBox="1"/>
          <p:nvPr/>
        </p:nvSpPr>
        <p:spPr>
          <a:xfrm>
            <a:off x="681990" y="4778375"/>
            <a:ext cx="3512185" cy="201978"/>
          </a:xfrm>
          <a:prstGeom prst="rect">
            <a:avLst/>
          </a:prstGeom>
          <a:noFill/>
        </p:spPr>
        <p:txBody>
          <a:bodyPr vertOverflow="clip" horzOverflow="clip" wrap="square" lIns="0" tIns="0" rIns="0" bIns="0" rtlCol="0" anchor="t">
            <a:spAutoFit/>
          </a:bodyPr>
          <a:lstStyle/>
          <a:p>
            <a:pPr>
              <a:lnSpc>
                <a:spcPts val="1740"/>
              </a:lnSpc>
            </a:pPr>
            <a:r>
              <a:rPr lang="en-US" sz="1200" spc="-6" dirty="0">
                <a:solidFill>
                  <a:srgbClr val="07071B">
                    <a:alpha val="100000"/>
                  </a:srgbClr>
                </a:solidFill>
                <a:latin typeface="Roboto" panose="00000700000000000000" pitchFamily="2" charset="0"/>
              </a:rPr>
              <a:t>Science fiction origins</a:t>
            </a:r>
          </a:p>
        </p:txBody>
      </p:sp>
      <p:pic>
        <p:nvPicPr>
          <p:cNvPr id="321" name="::after">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571500" y="4866767"/>
            <a:ext cx="44053" cy="44053"/>
          </a:xfrm>
          <a:prstGeom prst="rect">
            <a:avLst/>
          </a:prstGeom>
        </p:spPr>
      </p:pic>
      <p:sp>
        <p:nvSpPr>
          <p:cNvPr id="322" name="Description of a primary heading-0">
            <a:extLst>
              <a:ext uri="{FF2B5EF4-FFF2-40B4-BE49-F238E27FC236}">
                <a16:creationId xmlns:a16="http://schemas.microsoft.com/office/drawing/2014/main" id="{111B4A49-B930-4A89-A1CD-6CA2B3D95AED}"/>
              </a:ext>
            </a:extLst>
          </p:cNvPr>
          <p:cNvSpPr txBox="1"/>
          <p:nvPr/>
        </p:nvSpPr>
        <p:spPr>
          <a:xfrm>
            <a:off x="681990" y="4994275"/>
            <a:ext cx="3512185" cy="419987"/>
          </a:xfrm>
          <a:prstGeom prst="rect">
            <a:avLst/>
          </a:prstGeom>
          <a:noFill/>
        </p:spPr>
        <p:txBody>
          <a:bodyPr vertOverflow="clip" horzOverflow="clip" wrap="square" lIns="0" tIns="0" rIns="0" bIns="0" rtlCol="0" anchor="t">
            <a:spAutoFit/>
          </a:bodyPr>
          <a:lstStyle/>
          <a:p>
            <a:pPr>
              <a:lnSpc>
                <a:spcPts val="1740"/>
              </a:lnSpc>
            </a:pPr>
            <a:r>
              <a:rPr lang="en-US" sz="1200" spc="-6" dirty="0">
                <a:solidFill>
                  <a:srgbClr val="07071B">
                    <a:alpha val="100000"/>
                  </a:srgbClr>
                </a:solidFill>
                <a:latin typeface="Roboto" panose="00000700000000000000" pitchFamily="2" charset="0"/>
              </a:rPr>
              <a:t>Science fiction origins highlighting robot risks and misalignment with human goals.</a:t>
            </a:r>
          </a:p>
        </p:txBody>
      </p:sp>
      <p:pic>
        <p:nvPicPr>
          <p:cNvPr id="323" name="::after">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571500" y="5082667"/>
            <a:ext cx="44053" cy="44053"/>
          </a:xfrm>
          <a:prstGeom prst="rect">
            <a:avLst/>
          </a:prstGeom>
        </p:spPr>
      </p:pic>
      <p:sp>
        <p:nvSpPr>
          <p:cNvPr id="324" name="Primary Heading-1">
            <a:extLst>
              <a:ext uri="{FF2B5EF4-FFF2-40B4-BE49-F238E27FC236}">
                <a16:creationId xmlns:a16="http://schemas.microsoft.com/office/drawing/2014/main" id="{111B4A49-B930-4A89-A1CD-6CA2B3D95AED}"/>
              </a:ext>
            </a:extLst>
          </p:cNvPr>
          <p:cNvSpPr txBox="1"/>
          <p:nvPr/>
        </p:nvSpPr>
        <p:spPr>
          <a:xfrm>
            <a:off x="4296791" y="3660775"/>
            <a:ext cx="3622675" cy="255839"/>
          </a:xfrm>
          <a:prstGeom prst="rect">
            <a:avLst/>
          </a:prstGeom>
          <a:noFill/>
        </p:spPr>
        <p:txBody>
          <a:bodyPr vertOverflow="clip" horzOverflow="clip" wrap="square" lIns="0" tIns="0" rIns="0" bIns="0" rtlCol="0" anchor="t">
            <a:spAutoFit/>
          </a:bodyPr>
          <a:lstStyle/>
          <a:p>
            <a:pPr algn="ctr">
              <a:lnSpc>
                <a:spcPts val="2100"/>
              </a:lnSpc>
            </a:pPr>
            <a:r>
              <a:rPr lang="en-US" sz="1400" spc="-25" dirty="0">
                <a:solidFill>
                  <a:srgbClr val="07071B">
                    <a:alpha val="100000"/>
                  </a:srgbClr>
                </a:solidFill>
                <a:latin typeface="Poppins SemiBold" panose="00000700000000000000" pitchFamily="2" charset="0"/>
              </a:rPr>
              <a:t>1942</a:t>
            </a:r>
          </a:p>
        </p:txBody>
      </p:sp>
      <p:sp>
        <p:nvSpPr>
          <p:cNvPr id="325" name="Description of a primary heading-1">
            <a:extLst>
              <a:ext uri="{FF2B5EF4-FFF2-40B4-BE49-F238E27FC236}">
                <a16:creationId xmlns:a16="http://schemas.microsoft.com/office/drawing/2014/main" id="{111B4A49-B930-4A89-A1CD-6CA2B3D95AED}"/>
              </a:ext>
            </a:extLst>
          </p:cNvPr>
          <p:cNvSpPr txBox="1"/>
          <p:nvPr/>
        </p:nvSpPr>
        <p:spPr>
          <a:xfrm>
            <a:off x="4407282" y="2936875"/>
            <a:ext cx="3512185" cy="201978"/>
          </a:xfrm>
          <a:prstGeom prst="rect">
            <a:avLst/>
          </a:prstGeom>
          <a:noFill/>
        </p:spPr>
        <p:txBody>
          <a:bodyPr vertOverflow="clip" horzOverflow="clip" wrap="square" lIns="0" tIns="0" rIns="0" bIns="0" rtlCol="0" anchor="t">
            <a:spAutoFit/>
          </a:bodyPr>
          <a:lstStyle/>
          <a:p>
            <a:pPr>
              <a:lnSpc>
                <a:spcPts val="1740"/>
              </a:lnSpc>
            </a:pPr>
            <a:r>
              <a:rPr lang="en-US" sz="1200" spc="-6" dirty="0">
                <a:solidFill>
                  <a:srgbClr val="07071B">
                    <a:alpha val="100000"/>
                  </a:srgbClr>
                </a:solidFill>
                <a:latin typeface="Roboto" panose="00000700000000000000" pitchFamily="2" charset="0"/>
              </a:rPr>
              <a:t>Asimov's Three Laws</a:t>
            </a:r>
          </a:p>
        </p:txBody>
      </p:sp>
      <p:pic>
        <p:nvPicPr>
          <p:cNvPr id="326" name="::after">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4296791" y="3025267"/>
            <a:ext cx="44053" cy="44053"/>
          </a:xfrm>
          <a:prstGeom prst="rect">
            <a:avLst/>
          </a:prstGeom>
        </p:spPr>
      </p:pic>
      <p:sp>
        <p:nvSpPr>
          <p:cNvPr id="327" name="Description of a primary heading-1">
            <a:extLst>
              <a:ext uri="{FF2B5EF4-FFF2-40B4-BE49-F238E27FC236}">
                <a16:creationId xmlns:a16="http://schemas.microsoft.com/office/drawing/2014/main" id="{111B4A49-B930-4A89-A1CD-6CA2B3D95AED}"/>
              </a:ext>
            </a:extLst>
          </p:cNvPr>
          <p:cNvSpPr txBox="1"/>
          <p:nvPr/>
        </p:nvSpPr>
        <p:spPr>
          <a:xfrm>
            <a:off x="4407282" y="3152775"/>
            <a:ext cx="3512185" cy="419987"/>
          </a:xfrm>
          <a:prstGeom prst="rect">
            <a:avLst/>
          </a:prstGeom>
          <a:noFill/>
        </p:spPr>
        <p:txBody>
          <a:bodyPr vertOverflow="clip" horzOverflow="clip" wrap="square" lIns="0" tIns="0" rIns="0" bIns="0" rtlCol="0" anchor="t">
            <a:spAutoFit/>
          </a:bodyPr>
          <a:lstStyle/>
          <a:p>
            <a:pPr>
              <a:lnSpc>
                <a:spcPts val="1740"/>
              </a:lnSpc>
            </a:pPr>
            <a:r>
              <a:rPr lang="en-US" sz="1200" spc="-6" dirty="0">
                <a:solidFill>
                  <a:srgbClr val="07071B">
                    <a:alpha val="100000"/>
                  </a:srgbClr>
                </a:solidFill>
                <a:latin typeface="Roboto" panose="00000700000000000000" pitchFamily="2" charset="0"/>
              </a:rPr>
              <a:t>1942: Asimov's Three Laws in "Runaround" with exact three clauses as stated in the source.</a:t>
            </a:r>
          </a:p>
        </p:txBody>
      </p:sp>
      <p:pic>
        <p:nvPicPr>
          <p:cNvPr id="328" name="::after">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4296791" y="3241167"/>
            <a:ext cx="44053" cy="44053"/>
          </a:xfrm>
          <a:prstGeom prst="rect">
            <a:avLst/>
          </a:prstGeom>
        </p:spPr>
      </p:pic>
      <p:sp>
        <p:nvSpPr>
          <p:cNvPr id="329" name="Primary Heading-2">
            <a:extLst>
              <a:ext uri="{FF2B5EF4-FFF2-40B4-BE49-F238E27FC236}">
                <a16:creationId xmlns:a16="http://schemas.microsoft.com/office/drawing/2014/main" id="{111B4A49-B930-4A89-A1CD-6CA2B3D95AED}"/>
              </a:ext>
            </a:extLst>
          </p:cNvPr>
          <p:cNvSpPr txBox="1"/>
          <p:nvPr/>
        </p:nvSpPr>
        <p:spPr>
          <a:xfrm>
            <a:off x="8022019" y="4511675"/>
            <a:ext cx="3622675" cy="255839"/>
          </a:xfrm>
          <a:prstGeom prst="rect">
            <a:avLst/>
          </a:prstGeom>
          <a:noFill/>
        </p:spPr>
        <p:txBody>
          <a:bodyPr vertOverflow="clip" horzOverflow="clip" wrap="square" lIns="0" tIns="0" rIns="0" bIns="0" rtlCol="0" anchor="t">
            <a:spAutoFit/>
          </a:bodyPr>
          <a:lstStyle/>
          <a:p>
            <a:pPr algn="ctr">
              <a:lnSpc>
                <a:spcPts val="2100"/>
              </a:lnSpc>
            </a:pPr>
            <a:r>
              <a:rPr lang="en-US" sz="1400" spc="-25" dirty="0">
                <a:solidFill>
                  <a:srgbClr val="07071B">
                    <a:alpha val="100000"/>
                  </a:srgbClr>
                </a:solidFill>
                <a:latin typeface="Poppins SemiBold" panose="00000700000000000000" pitchFamily="2" charset="0"/>
              </a:rPr>
              <a:t>2000–2025</a:t>
            </a:r>
          </a:p>
        </p:txBody>
      </p:sp>
      <p:sp>
        <p:nvSpPr>
          <p:cNvPr id="330" name="Description of a primary heading-2">
            <a:extLst>
              <a:ext uri="{FF2B5EF4-FFF2-40B4-BE49-F238E27FC236}">
                <a16:creationId xmlns:a16="http://schemas.microsoft.com/office/drawing/2014/main" id="{111B4A49-B930-4A89-A1CD-6CA2B3D95AED}"/>
              </a:ext>
            </a:extLst>
          </p:cNvPr>
          <p:cNvSpPr txBox="1"/>
          <p:nvPr/>
        </p:nvSpPr>
        <p:spPr>
          <a:xfrm>
            <a:off x="8132509" y="4778375"/>
            <a:ext cx="3512185" cy="637995"/>
          </a:xfrm>
          <a:prstGeom prst="rect">
            <a:avLst/>
          </a:prstGeom>
          <a:noFill/>
        </p:spPr>
        <p:txBody>
          <a:bodyPr vertOverflow="clip" horzOverflow="clip" wrap="square" lIns="0" tIns="0" rIns="0" bIns="0" rtlCol="0" anchor="t">
            <a:spAutoFit/>
          </a:bodyPr>
          <a:lstStyle/>
          <a:p>
            <a:pPr marL="190510" indent="-190510">
              <a:lnSpc>
                <a:spcPts val="1740"/>
              </a:lnSpc>
              <a:buFont typeface="Arial" panose="020B0604020202020204" pitchFamily="34" charset="0"/>
              <a:buChar char="•"/>
            </a:pPr>
            <a:r>
              <a:rPr lang="en-US" sz="1200" spc="-6" dirty="0">
                <a:solidFill>
                  <a:srgbClr val="07071B">
                    <a:alpha val="100000"/>
                  </a:srgbClr>
                </a:solidFill>
                <a:latin typeface="Roboto" panose="00000700000000000000" pitchFamily="2" charset="0"/>
              </a:rPr>
              <a:t>2000–2012: Founding of AI Safety Institutes giving birth to AI Safety, mainly from concerns that AI would create </a:t>
            </a:r>
            <a:r>
              <a:rPr lang="en-US" sz="1200" spc="-6" dirty="0" err="1">
                <a:solidFill>
                  <a:srgbClr val="07071B">
                    <a:alpha val="100000"/>
                  </a:srgbClr>
                </a:solidFill>
                <a:latin typeface="Roboto" panose="00000700000000000000" pitchFamily="2" charset="0"/>
              </a:rPr>
              <a:t>transhumans</a:t>
            </a:r>
            <a:endParaRPr lang="en-US" sz="1200" spc="-6" dirty="0">
              <a:solidFill>
                <a:srgbClr val="07071B">
                  <a:alpha val="100000"/>
                </a:srgbClr>
              </a:solidFill>
              <a:latin typeface="Roboto" panose="00000700000000000000" pitchFamily="2" charset="0"/>
            </a:endParaRPr>
          </a:p>
        </p:txBody>
      </p:sp>
      <p:sp>
        <p:nvSpPr>
          <p:cNvPr id="332" name="Description of a primary heading-2">
            <a:extLst>
              <a:ext uri="{FF2B5EF4-FFF2-40B4-BE49-F238E27FC236}">
                <a16:creationId xmlns:a16="http://schemas.microsoft.com/office/drawing/2014/main" id="{111B4A49-B930-4A89-A1CD-6CA2B3D95AED}"/>
              </a:ext>
            </a:extLst>
          </p:cNvPr>
          <p:cNvSpPr txBox="1"/>
          <p:nvPr/>
        </p:nvSpPr>
        <p:spPr>
          <a:xfrm>
            <a:off x="8132509" y="5448300"/>
            <a:ext cx="3512185" cy="856004"/>
          </a:xfrm>
          <a:prstGeom prst="rect">
            <a:avLst/>
          </a:prstGeom>
          <a:noFill/>
        </p:spPr>
        <p:txBody>
          <a:bodyPr vertOverflow="clip" horzOverflow="clip" wrap="square" lIns="0" tIns="0" rIns="0" bIns="0" rtlCol="0" anchor="t">
            <a:spAutoFit/>
          </a:bodyPr>
          <a:lstStyle/>
          <a:p>
            <a:pPr marL="190510" indent="-190510">
              <a:lnSpc>
                <a:spcPts val="1740"/>
              </a:lnSpc>
              <a:buFont typeface="Arial" panose="020B0604020202020204" pitchFamily="34" charset="0"/>
              <a:buChar char="•"/>
            </a:pPr>
            <a:r>
              <a:rPr lang="en-US" sz="1200" spc="-6" dirty="0">
                <a:solidFill>
                  <a:srgbClr val="07071B">
                    <a:alpha val="100000"/>
                  </a:srgbClr>
                </a:solidFill>
                <a:latin typeface="Roboto" panose="00000700000000000000" pitchFamily="2" charset="0"/>
              </a:rPr>
              <a:t>2017: </a:t>
            </a:r>
            <a:r>
              <a:rPr lang="en-US" sz="1200" dirty="0">
                <a:latin typeface="Roboto" panose="02000000000000000000" pitchFamily="2" charset="0"/>
                <a:ea typeface="Roboto" panose="02000000000000000000" pitchFamily="2" charset="0"/>
                <a:cs typeface="Roboto" panose="02000000000000000000" pitchFamily="2" charset="0"/>
              </a:rPr>
              <a:t>AI Safety and Ethical AI development progressed the establishment of 23 guidelines at the Beneficial AI 2017 conference by a group of technologists </a:t>
            </a:r>
            <a:endParaRPr lang="en-US" sz="1200" spc="-6" dirty="0">
              <a:solidFill>
                <a:srgbClr val="07071B">
                  <a:alpha val="100000"/>
                </a:srgbClr>
              </a:solidFill>
              <a:latin typeface="Roboto" panose="02000000000000000000" pitchFamily="2" charset="0"/>
              <a:ea typeface="Roboto" panose="02000000000000000000" pitchFamily="2" charset="0"/>
              <a:cs typeface="Roboto" panose="02000000000000000000" pitchFamily="2" charset="0"/>
            </a:endParaRPr>
          </a:p>
        </p:txBody>
      </p:sp>
      <p:pic>
        <p:nvPicPr>
          <p:cNvPr id="33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2368550" y="4206875"/>
            <a:ext cx="9823450" cy="19050"/>
          </a:xfrm>
          <a:prstGeom prst="rect">
            <a:avLst/>
          </a:prstGeom>
        </p:spPr>
      </p:pic>
      <p:pic>
        <p:nvPicPr>
          <p:cNvPr id="33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2307145" y="4152900"/>
            <a:ext cx="127000" cy="146050"/>
          </a:xfrm>
          <a:prstGeom prst="rect">
            <a:avLst/>
          </a:prstGeom>
        </p:spPr>
      </p:pic>
      <p:pic>
        <p:nvPicPr>
          <p:cNvPr id="33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6034595" y="4152900"/>
            <a:ext cx="127000" cy="146050"/>
          </a:xfrm>
          <a:prstGeom prst="rect">
            <a:avLst/>
          </a:prstGeom>
        </p:spPr>
      </p:pic>
      <p:pic>
        <p:nvPicPr>
          <p:cNvPr id="33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9755695" y="4152900"/>
            <a:ext cx="127000" cy="146050"/>
          </a:xfrm>
          <a:prstGeom prst="rect">
            <a:avLst/>
          </a:prstGeom>
        </p:spPr>
      </p:pic>
      <p:sp>
        <p:nvSpPr>
          <p:cNvPr id="338" name="Title 3">
            <a:extLst>
              <a:ext uri="{FF2B5EF4-FFF2-40B4-BE49-F238E27FC236}">
                <a16:creationId xmlns:a16="http://schemas.microsoft.com/office/drawing/2014/main" id="{111B4A49-B930-4A89-A1CD-6CA2B3D95AED}"/>
              </a:ext>
            </a:extLst>
          </p:cNvPr>
          <p:cNvSpPr txBox="1"/>
          <p:nvPr/>
        </p:nvSpPr>
        <p:spPr>
          <a:xfrm>
            <a:off x="508000" y="482600"/>
            <a:ext cx="10131425" cy="960519"/>
          </a:xfrm>
          <a:prstGeom prst="rect">
            <a:avLst/>
          </a:prstGeom>
          <a:noFill/>
        </p:spPr>
        <p:txBody>
          <a:bodyPr vertOverflow="clip" horzOverflow="clip" wrap="square" lIns="0" tIns="0" rIns="0" bIns="0" rtlCol="0" anchor="t">
            <a:spAutoFit/>
          </a:bodyPr>
          <a:lstStyle/>
          <a:p>
            <a:pPr>
              <a:lnSpc>
                <a:spcPts val="3780"/>
              </a:lnSpc>
            </a:pPr>
            <a:r>
              <a:rPr lang="en-US" sz="2800" spc="-61" dirty="0">
                <a:solidFill>
                  <a:srgbClr val="07071B">
                    <a:alpha val="100000"/>
                  </a:srgbClr>
                </a:solidFill>
                <a:latin typeface="Poppins SemiBold" panose="00000700000000000000" pitchFamily="2" charset="0"/>
              </a:rPr>
              <a:t>VALUES IN AI PROGRAMMING HAS ITS ROOTS IN AI ETHICS AND AI SAFETY WITH LIMITED VALUE-BASED PROGRAMMING</a:t>
            </a:r>
          </a:p>
        </p:txBody>
      </p:sp>
      <p:sp>
        <p:nvSpPr>
          <p:cNvPr id="340" name="SubTitle">
            <a:extLst>
              <a:ext uri="{FF2B5EF4-FFF2-40B4-BE49-F238E27FC236}">
                <a16:creationId xmlns:a16="http://schemas.microsoft.com/office/drawing/2014/main" id="{111B4A49-B930-4A89-A1CD-6CA2B3D95AED}"/>
              </a:ext>
            </a:extLst>
          </p:cNvPr>
          <p:cNvSpPr txBox="1"/>
          <p:nvPr/>
        </p:nvSpPr>
        <p:spPr>
          <a:xfrm>
            <a:off x="508000" y="1524000"/>
            <a:ext cx="10131425" cy="419987"/>
          </a:xfrm>
          <a:prstGeom prst="rect">
            <a:avLst/>
          </a:prstGeom>
          <a:noFill/>
        </p:spPr>
        <p:txBody>
          <a:bodyPr vertOverflow="clip" horzOverflow="clip" wrap="square" lIns="0" tIns="0" rIns="0" bIns="0" rtlCol="0" anchor="t">
            <a:spAutoFit/>
          </a:bodyPr>
          <a:lstStyle/>
          <a:p>
            <a:pPr>
              <a:lnSpc>
                <a:spcPts val="1740"/>
              </a:lnSpc>
            </a:pPr>
            <a:r>
              <a:rPr lang="en-US" sz="1200" spc="-6" dirty="0">
                <a:solidFill>
                  <a:srgbClr val="6C6C80">
                    <a:alpha val="100000"/>
                  </a:srgbClr>
                </a:solidFill>
                <a:latin typeface="Roboto" panose="00000700000000000000" pitchFamily="2" charset="0"/>
              </a:rPr>
              <a:t>AI ethics began in science fiction writing portraying the risks of robots not aligned with human goals or becoming independent of human controls and shifted to AI Safety, Ethical AI and Responsible AI principles in the 2000s. </a:t>
            </a:r>
          </a:p>
        </p:txBody>
      </p:sp>
      <p:sp>
        <p:nvSpPr>
          <p:cNvPr id="2" name="Footer Placeholder 1">
            <a:extLst>
              <a:ext uri="{FF2B5EF4-FFF2-40B4-BE49-F238E27FC236}">
                <a16:creationId xmlns:a16="http://schemas.microsoft.com/office/drawing/2014/main" id="{EE337BDB-0F98-A619-F544-56829141A24F}"/>
              </a:ext>
            </a:extLst>
          </p:cNvPr>
          <p:cNvSpPr>
            <a:spLocks noGrp="1"/>
          </p:cNvSpPr>
          <p:nvPr>
            <p:ph type="ftr" sz="quarter" idx="11"/>
          </p:nvPr>
        </p:nvSpPr>
        <p:spPr/>
        <p:txBody>
          <a:bodyPr/>
          <a:lstStyle/>
          <a:p>
            <a:r>
              <a:rPr lang="en-US"/>
              <a:t>by Zoltan Pap © December 25, 2025</a:t>
            </a:r>
          </a:p>
        </p:txBody>
      </p:sp>
    </p:spTree>
    <p:extLst>
      <p:ext uri="{BB962C8B-B14F-4D97-AF65-F5344CB8AC3E}">
        <p14:creationId xmlns:p14="http://schemas.microsoft.com/office/powerpoint/2010/main" val="2757083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2192000" cy="6858000"/>
          </a:xfrm>
          <a:prstGeom prst="rect">
            <a:avLst/>
          </a:prstGeom>
        </p:spPr>
      </p:pic>
      <p:pic>
        <p:nvPicPr>
          <p:cNvPr id="34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2192000" cy="6858000"/>
          </a:xfrm>
          <a:prstGeom prst="rect">
            <a:avLst/>
          </a:prstGeom>
        </p:spPr>
      </p:pic>
      <p:pic>
        <p:nvPicPr>
          <p:cNvPr id="34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0" y="5137249"/>
            <a:ext cx="1574800" cy="1720751"/>
          </a:xfrm>
          <a:prstGeom prst="rect">
            <a:avLst/>
          </a:prstGeom>
        </p:spPr>
      </p:pic>
      <p:pic>
        <p:nvPicPr>
          <p:cNvPr id="34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0376592" y="0"/>
            <a:ext cx="1815405" cy="1917700"/>
          </a:xfrm>
          <a:prstGeom prst="rect">
            <a:avLst/>
          </a:prstGeom>
        </p:spPr>
      </p:pic>
      <p:sp>
        <p:nvSpPr>
          <p:cNvPr id="348" name="Primary Heading-3">
            <a:extLst>
              <a:ext uri="{FF2B5EF4-FFF2-40B4-BE49-F238E27FC236}">
                <a16:creationId xmlns:a16="http://schemas.microsoft.com/office/drawing/2014/main" id="{111B4A49-B930-4A89-A1CD-6CA2B3D95AED}"/>
              </a:ext>
            </a:extLst>
          </p:cNvPr>
          <p:cNvSpPr txBox="1"/>
          <p:nvPr/>
        </p:nvSpPr>
        <p:spPr>
          <a:xfrm>
            <a:off x="571310" y="3660775"/>
            <a:ext cx="5483225" cy="255839"/>
          </a:xfrm>
          <a:prstGeom prst="rect">
            <a:avLst/>
          </a:prstGeom>
          <a:noFill/>
        </p:spPr>
        <p:txBody>
          <a:bodyPr vertOverflow="clip" horzOverflow="clip" wrap="square" lIns="0" tIns="0" rIns="0" bIns="0" rtlCol="0" anchor="t">
            <a:spAutoFit/>
          </a:bodyPr>
          <a:lstStyle/>
          <a:p>
            <a:pPr algn="ctr">
              <a:lnSpc>
                <a:spcPts val="2100"/>
              </a:lnSpc>
            </a:pPr>
            <a:r>
              <a:rPr lang="en-US" sz="1400" spc="-25" dirty="0">
                <a:solidFill>
                  <a:srgbClr val="07071B">
                    <a:alpha val="100000"/>
                  </a:srgbClr>
                </a:solidFill>
                <a:latin typeface="Poppins SemiBold" panose="00000700000000000000" pitchFamily="2" charset="0"/>
              </a:rPr>
              <a:t>2017</a:t>
            </a:r>
          </a:p>
        </p:txBody>
      </p:sp>
      <p:sp>
        <p:nvSpPr>
          <p:cNvPr id="351" name="Description of a primary heading-3">
            <a:extLst>
              <a:ext uri="{FF2B5EF4-FFF2-40B4-BE49-F238E27FC236}">
                <a16:creationId xmlns:a16="http://schemas.microsoft.com/office/drawing/2014/main" id="{111B4A49-B930-4A89-A1CD-6CA2B3D95AED}"/>
              </a:ext>
            </a:extLst>
          </p:cNvPr>
          <p:cNvSpPr txBox="1"/>
          <p:nvPr/>
        </p:nvSpPr>
        <p:spPr>
          <a:xfrm>
            <a:off x="626555" y="2825205"/>
            <a:ext cx="5372735" cy="637995"/>
          </a:xfrm>
          <a:prstGeom prst="rect">
            <a:avLst/>
          </a:prstGeom>
          <a:noFill/>
        </p:spPr>
        <p:txBody>
          <a:bodyPr vertOverflow="clip" horzOverflow="clip" wrap="square" lIns="0" tIns="0" rIns="0" bIns="0" rtlCol="0" anchor="t">
            <a:spAutoFit/>
          </a:bodyPr>
          <a:lstStyle/>
          <a:p>
            <a:pPr marL="190510" indent="-190510">
              <a:lnSpc>
                <a:spcPts val="1740"/>
              </a:lnSpc>
              <a:buFont typeface="Arial" panose="020B0604020202020204" pitchFamily="34" charset="0"/>
              <a:buChar char="•"/>
            </a:pPr>
            <a:r>
              <a:rPr lang="en-US" sz="1200" dirty="0">
                <a:latin typeface="Roboto" panose="02000000000000000000" pitchFamily="2" charset="0"/>
                <a:ea typeface="Roboto" panose="02000000000000000000" pitchFamily="2" charset="0"/>
                <a:cs typeface="Roboto" panose="02000000000000000000" pitchFamily="2" charset="0"/>
              </a:rPr>
              <a:t>AI Safety and Ethical AI development progressed the establishment of 23 guidelines at the Beneficial AI 2017 conference by a group of technologists </a:t>
            </a:r>
            <a:endParaRPr lang="en-US" sz="1200" spc="-6" dirty="0">
              <a:solidFill>
                <a:srgbClr val="07071B">
                  <a:alpha val="100000"/>
                </a:srgbClr>
              </a:solidFill>
              <a:latin typeface="Roboto" panose="02000000000000000000" pitchFamily="2" charset="0"/>
              <a:ea typeface="Roboto" panose="02000000000000000000" pitchFamily="2" charset="0"/>
              <a:cs typeface="Roboto" panose="02000000000000000000" pitchFamily="2" charset="0"/>
            </a:endParaRPr>
          </a:p>
          <a:p>
            <a:pPr>
              <a:lnSpc>
                <a:spcPts val="1740"/>
              </a:lnSpc>
            </a:pPr>
            <a:endParaRPr lang="en-US" sz="1200" spc="-6" dirty="0">
              <a:solidFill>
                <a:srgbClr val="07071B">
                  <a:alpha val="100000"/>
                </a:srgbClr>
              </a:solidFill>
              <a:latin typeface="Roboto" panose="00000700000000000000" pitchFamily="2" charset="0"/>
            </a:endParaRPr>
          </a:p>
        </p:txBody>
      </p:sp>
      <p:sp>
        <p:nvSpPr>
          <p:cNvPr id="353" name="Primary Heading-4">
            <a:extLst>
              <a:ext uri="{FF2B5EF4-FFF2-40B4-BE49-F238E27FC236}">
                <a16:creationId xmlns:a16="http://schemas.microsoft.com/office/drawing/2014/main" id="{111B4A49-B930-4A89-A1CD-6CA2B3D95AED}"/>
              </a:ext>
            </a:extLst>
          </p:cNvPr>
          <p:cNvSpPr txBox="1"/>
          <p:nvPr/>
        </p:nvSpPr>
        <p:spPr>
          <a:xfrm>
            <a:off x="6159310" y="4511675"/>
            <a:ext cx="5483225" cy="255839"/>
          </a:xfrm>
          <a:prstGeom prst="rect">
            <a:avLst/>
          </a:prstGeom>
          <a:noFill/>
        </p:spPr>
        <p:txBody>
          <a:bodyPr vertOverflow="clip" horzOverflow="clip" wrap="square" lIns="0" tIns="0" rIns="0" bIns="0" rtlCol="0" anchor="t">
            <a:spAutoFit/>
          </a:bodyPr>
          <a:lstStyle/>
          <a:p>
            <a:pPr algn="ctr">
              <a:lnSpc>
                <a:spcPts val="2100"/>
              </a:lnSpc>
            </a:pPr>
            <a:r>
              <a:rPr lang="en-US" sz="1400" spc="-25" dirty="0">
                <a:solidFill>
                  <a:srgbClr val="07071B">
                    <a:alpha val="100000"/>
                  </a:srgbClr>
                </a:solidFill>
                <a:latin typeface="Poppins SemiBold" panose="00000700000000000000" pitchFamily="2" charset="0"/>
              </a:rPr>
              <a:t>2023–2024</a:t>
            </a:r>
          </a:p>
        </p:txBody>
      </p:sp>
      <p:sp>
        <p:nvSpPr>
          <p:cNvPr id="354" name="Description of a primary heading-4">
            <a:extLst>
              <a:ext uri="{FF2B5EF4-FFF2-40B4-BE49-F238E27FC236}">
                <a16:creationId xmlns:a16="http://schemas.microsoft.com/office/drawing/2014/main" id="{111B4A49-B930-4A89-A1CD-6CA2B3D95AED}"/>
              </a:ext>
            </a:extLst>
          </p:cNvPr>
          <p:cNvSpPr txBox="1"/>
          <p:nvPr/>
        </p:nvSpPr>
        <p:spPr>
          <a:xfrm>
            <a:off x="6269799" y="4778375"/>
            <a:ext cx="5372735" cy="738664"/>
          </a:xfrm>
          <a:prstGeom prst="rect">
            <a:avLst/>
          </a:prstGeom>
          <a:noFill/>
        </p:spPr>
        <p:txBody>
          <a:bodyPr vertOverflow="clip" horzOverflow="clip" wrap="square" lIns="0" tIns="0" rIns="0" bIns="0" rtlCol="0" anchor="t">
            <a:spAutoFit/>
          </a:bodyPr>
          <a:lstStyle/>
          <a:p>
            <a:pPr marL="228611" indent="-228611">
              <a:buFont typeface="Symbol" pitchFamily="2" charset="2"/>
              <a:buChar char=""/>
            </a:pPr>
            <a:r>
              <a:rPr lang="en-US" sz="1200" dirty="0">
                <a:latin typeface="Roboto" panose="02000000000000000000" pitchFamily="2" charset="0"/>
                <a:ea typeface="Roboto" panose="02000000000000000000" pitchFamily="2" charset="0"/>
                <a:cs typeface="Roboto" panose="02000000000000000000" pitchFamily="2" charset="0"/>
              </a:rPr>
              <a:t>In 2023, AI Safety became mainstream with concerns identified by technologists from issues with advancing Large Language Models and regulators around the world beginning to implement AI governance regulations. </a:t>
            </a:r>
          </a:p>
        </p:txBody>
      </p:sp>
      <p:sp>
        <p:nvSpPr>
          <p:cNvPr id="356" name="Description of a primary heading-4">
            <a:extLst>
              <a:ext uri="{FF2B5EF4-FFF2-40B4-BE49-F238E27FC236}">
                <a16:creationId xmlns:a16="http://schemas.microsoft.com/office/drawing/2014/main" id="{111B4A49-B930-4A89-A1CD-6CA2B3D95AED}"/>
              </a:ext>
            </a:extLst>
          </p:cNvPr>
          <p:cNvSpPr txBox="1"/>
          <p:nvPr/>
        </p:nvSpPr>
        <p:spPr>
          <a:xfrm>
            <a:off x="6344663" y="5633766"/>
            <a:ext cx="5372735" cy="637995"/>
          </a:xfrm>
          <a:prstGeom prst="rect">
            <a:avLst/>
          </a:prstGeom>
          <a:noFill/>
        </p:spPr>
        <p:txBody>
          <a:bodyPr vertOverflow="clip" horzOverflow="clip" wrap="square" lIns="0" tIns="0" rIns="0" bIns="0" rtlCol="0" anchor="t">
            <a:spAutoFit/>
          </a:bodyPr>
          <a:lstStyle/>
          <a:p>
            <a:pPr marL="190510" indent="-190510">
              <a:lnSpc>
                <a:spcPts val="1740"/>
              </a:lnSpc>
              <a:buFont typeface="Arial" panose="020B0604020202020204" pitchFamily="34" charset="0"/>
              <a:buChar char="•"/>
            </a:pPr>
            <a:r>
              <a:rPr lang="en-US" sz="1200" dirty="0">
                <a:latin typeface="Roboto" panose="02000000000000000000" pitchFamily="2" charset="0"/>
                <a:ea typeface="Roboto" panose="02000000000000000000" pitchFamily="2" charset="0"/>
                <a:cs typeface="Roboto" panose="02000000000000000000" pitchFamily="2" charset="0"/>
              </a:rPr>
              <a:t>Discussion of Value-Based AI programming began in 2024 at the World Economic Forum as “AI alignment” to design AI systems that behave “consistent” with human values and ethical principles </a:t>
            </a:r>
            <a:endParaRPr lang="en-US" sz="1200" spc="-6" dirty="0">
              <a:solidFill>
                <a:srgbClr val="07071B">
                  <a:alpha val="100000"/>
                </a:srgbClr>
              </a:solidFill>
              <a:latin typeface="Roboto" panose="02000000000000000000" pitchFamily="2" charset="0"/>
              <a:ea typeface="Roboto" panose="02000000000000000000" pitchFamily="2" charset="0"/>
              <a:cs typeface="Roboto" panose="02000000000000000000" pitchFamily="2" charset="0"/>
            </a:endParaRPr>
          </a:p>
        </p:txBody>
      </p:sp>
      <p:pic>
        <p:nvPicPr>
          <p:cNvPr id="35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0" y="4206875"/>
            <a:ext cx="8826500" cy="19050"/>
          </a:xfrm>
          <a:prstGeom prst="rect">
            <a:avLst/>
          </a:prstGeom>
        </p:spPr>
      </p:pic>
      <p:pic>
        <p:nvPicPr>
          <p:cNvPr id="35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3238500" y="4152900"/>
            <a:ext cx="127000" cy="146050"/>
          </a:xfrm>
          <a:prstGeom prst="rect">
            <a:avLst/>
          </a:prstGeom>
        </p:spPr>
      </p:pic>
      <p:pic>
        <p:nvPicPr>
          <p:cNvPr id="36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8826500" y="4152900"/>
            <a:ext cx="127000" cy="146050"/>
          </a:xfrm>
          <a:prstGeom prst="rect">
            <a:avLst/>
          </a:prstGeom>
        </p:spPr>
      </p:pic>
      <p:sp>
        <p:nvSpPr>
          <p:cNvPr id="361" name="Title 3">
            <a:extLst>
              <a:ext uri="{FF2B5EF4-FFF2-40B4-BE49-F238E27FC236}">
                <a16:creationId xmlns:a16="http://schemas.microsoft.com/office/drawing/2014/main" id="{111B4A49-B930-4A89-A1CD-6CA2B3D95AED}"/>
              </a:ext>
            </a:extLst>
          </p:cNvPr>
          <p:cNvSpPr txBox="1"/>
          <p:nvPr/>
        </p:nvSpPr>
        <p:spPr>
          <a:xfrm>
            <a:off x="508000" y="482600"/>
            <a:ext cx="10131425" cy="960519"/>
          </a:xfrm>
          <a:prstGeom prst="rect">
            <a:avLst/>
          </a:prstGeom>
          <a:noFill/>
        </p:spPr>
        <p:txBody>
          <a:bodyPr vertOverflow="clip" horzOverflow="clip" wrap="square" lIns="0" tIns="0" rIns="0" bIns="0" rtlCol="0" anchor="t">
            <a:spAutoFit/>
          </a:bodyPr>
          <a:lstStyle/>
          <a:p>
            <a:pPr>
              <a:lnSpc>
                <a:spcPts val="3780"/>
              </a:lnSpc>
            </a:pPr>
            <a:r>
              <a:rPr lang="en-US" sz="2800" spc="-61" dirty="0">
                <a:solidFill>
                  <a:srgbClr val="07071B">
                    <a:alpha val="100000"/>
                  </a:srgbClr>
                </a:solidFill>
                <a:latin typeface="Poppins SemiBold" panose="00000700000000000000" pitchFamily="2" charset="0"/>
              </a:rPr>
              <a:t>VALUES IN AI PROGRAMMING HAS ITS ROOTS IN AI ETHICS AND AI SAFETY WITH LIMITED VALUE-BASED PROGRAMMING:</a:t>
            </a:r>
          </a:p>
        </p:txBody>
      </p:sp>
      <p:sp>
        <p:nvSpPr>
          <p:cNvPr id="363" name="SubTitle">
            <a:extLst>
              <a:ext uri="{FF2B5EF4-FFF2-40B4-BE49-F238E27FC236}">
                <a16:creationId xmlns:a16="http://schemas.microsoft.com/office/drawing/2014/main" id="{111B4A49-B930-4A89-A1CD-6CA2B3D95AED}"/>
              </a:ext>
            </a:extLst>
          </p:cNvPr>
          <p:cNvSpPr txBox="1"/>
          <p:nvPr/>
        </p:nvSpPr>
        <p:spPr>
          <a:xfrm>
            <a:off x="508000" y="1524000"/>
            <a:ext cx="10131425" cy="419987"/>
          </a:xfrm>
          <a:prstGeom prst="rect">
            <a:avLst/>
          </a:prstGeom>
          <a:noFill/>
        </p:spPr>
        <p:txBody>
          <a:bodyPr vertOverflow="clip" horzOverflow="clip" wrap="square" lIns="0" tIns="0" rIns="0" bIns="0" rtlCol="0" anchor="t">
            <a:spAutoFit/>
          </a:bodyPr>
          <a:lstStyle/>
          <a:p>
            <a:pPr>
              <a:lnSpc>
                <a:spcPts val="1740"/>
              </a:lnSpc>
            </a:pPr>
            <a:r>
              <a:rPr lang="en-US" sz="1200" spc="-6" dirty="0">
                <a:solidFill>
                  <a:srgbClr val="6C6C80">
                    <a:alpha val="100000"/>
                  </a:srgbClr>
                </a:solidFill>
                <a:latin typeface="Roboto" panose="00000700000000000000" pitchFamily="2" charset="0"/>
              </a:rPr>
              <a:t>•	AI ethics began in science fiction writing portraying the risks of robots not aligned with human goals or becoming independent of human controls. </a:t>
            </a:r>
          </a:p>
        </p:txBody>
      </p:sp>
      <p:sp>
        <p:nvSpPr>
          <p:cNvPr id="2" name="Footer Placeholder 1">
            <a:extLst>
              <a:ext uri="{FF2B5EF4-FFF2-40B4-BE49-F238E27FC236}">
                <a16:creationId xmlns:a16="http://schemas.microsoft.com/office/drawing/2014/main" id="{0E950D4F-71C5-FDE5-1461-2683108D8CCB}"/>
              </a:ext>
            </a:extLst>
          </p:cNvPr>
          <p:cNvSpPr>
            <a:spLocks noGrp="1"/>
          </p:cNvSpPr>
          <p:nvPr>
            <p:ph type="ftr" sz="quarter" idx="11"/>
          </p:nvPr>
        </p:nvSpPr>
        <p:spPr/>
        <p:txBody>
          <a:bodyPr/>
          <a:lstStyle/>
          <a:p>
            <a:r>
              <a:rPr lang="en-US"/>
              <a:t>by Zoltan Pap © December 25, 2025</a:t>
            </a:r>
          </a:p>
        </p:txBody>
      </p:sp>
    </p:spTree>
    <p:extLst>
      <p:ext uri="{BB962C8B-B14F-4D97-AF65-F5344CB8AC3E}">
        <p14:creationId xmlns:p14="http://schemas.microsoft.com/office/powerpoint/2010/main" val="1280461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2192000" cy="6858000"/>
          </a:xfrm>
          <a:prstGeom prst="rect">
            <a:avLst/>
          </a:prstGeom>
        </p:spPr>
      </p:pic>
      <p:pic>
        <p:nvPicPr>
          <p:cNvPr id="36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2192000" cy="6858000"/>
          </a:xfrm>
          <a:prstGeom prst="rect">
            <a:avLst/>
          </a:prstGeom>
        </p:spPr>
      </p:pic>
      <p:pic>
        <p:nvPicPr>
          <p:cNvPr id="36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0" y="5137249"/>
            <a:ext cx="1574800" cy="1720751"/>
          </a:xfrm>
          <a:prstGeom prst="rect">
            <a:avLst/>
          </a:prstGeom>
        </p:spPr>
      </p:pic>
      <p:pic>
        <p:nvPicPr>
          <p:cNvPr id="37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0376592" y="0"/>
            <a:ext cx="1815405" cy="1917700"/>
          </a:xfrm>
          <a:prstGeom prst="rect">
            <a:avLst/>
          </a:prstGeom>
        </p:spPr>
      </p:pic>
      <p:pic>
        <p:nvPicPr>
          <p:cNvPr id="371" name="iconNode0">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extLst>
              <a:ext uri="{971FD58E-D1D2-40F6-A47D-672DC15DCEA1}">
                <asvg:svgBlip xmlns="" xmlns:a16="http://schemas.microsoft.com/office/drawing/2014/main" xmlns:a14="http://schemas.microsoft.com/office/drawing/2010/main" xmlns:p14="http://schemas.microsoft.com/office/powerpoint/2010/main" xmlns:asvg="http://schemas.microsoft.com/office/drawing/2016/SVG/main" r:embed="rId81"/>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508000" y="1725994"/>
            <a:ext cx="731457" cy="731457"/>
          </a:xfrm>
          <a:prstGeom prst="rect">
            <a:avLst/>
          </a:prstGeom>
        </p:spPr>
      </p:pic>
      <p:sp>
        <p:nvSpPr>
          <p:cNvPr id="373" name="Primary Heading-0">
            <a:extLst>
              <a:ext uri="{FF2B5EF4-FFF2-40B4-BE49-F238E27FC236}">
                <a16:creationId xmlns:a16="http://schemas.microsoft.com/office/drawing/2014/main" id="{111B4A49-B930-4A89-A1CD-6CA2B3D95AED}"/>
              </a:ext>
            </a:extLst>
          </p:cNvPr>
          <p:cNvSpPr txBox="1"/>
          <p:nvPr/>
        </p:nvSpPr>
        <p:spPr>
          <a:xfrm>
            <a:off x="508000" y="2660650"/>
            <a:ext cx="3508375" cy="450123"/>
          </a:xfrm>
          <a:prstGeom prst="rect">
            <a:avLst/>
          </a:prstGeom>
          <a:noFill/>
        </p:spPr>
        <p:txBody>
          <a:bodyPr vertOverflow="clip" horzOverflow="clip" wrap="square" lIns="0" tIns="0" rIns="0" bIns="0" rtlCol="0" anchor="t">
            <a:spAutoFit/>
          </a:bodyPr>
          <a:lstStyle/>
          <a:p>
            <a:pPr>
              <a:lnSpc>
                <a:spcPts val="1848"/>
              </a:lnSpc>
            </a:pPr>
            <a:r>
              <a:rPr lang="en-US" sz="1200" spc="-21" dirty="0">
                <a:solidFill>
                  <a:srgbClr val="07071B">
                    <a:alpha val="100000"/>
                  </a:srgbClr>
                </a:solidFill>
                <a:latin typeface="Poppins SemiBold" panose="00000700000000000000" pitchFamily="2" charset="0"/>
              </a:rPr>
              <a:t>DESIGN PHASE: REQUIRES SELECTING VALUES TO GUIDE PROGRAMMING DEVELOPMENT.</a:t>
            </a:r>
          </a:p>
        </p:txBody>
      </p:sp>
      <p:sp>
        <p:nvSpPr>
          <p:cNvPr id="375" name="Description of a primary heading-0">
            <a:extLst>
              <a:ext uri="{FF2B5EF4-FFF2-40B4-BE49-F238E27FC236}">
                <a16:creationId xmlns:a16="http://schemas.microsoft.com/office/drawing/2014/main" id="{111B4A49-B930-4A89-A1CD-6CA2B3D95AED}"/>
              </a:ext>
            </a:extLst>
          </p:cNvPr>
          <p:cNvSpPr txBox="1"/>
          <p:nvPr/>
        </p:nvSpPr>
        <p:spPr>
          <a:xfrm>
            <a:off x="508000" y="3168650"/>
            <a:ext cx="3508375" cy="163506"/>
          </a:xfrm>
          <a:prstGeom prst="rect">
            <a:avLst/>
          </a:prstGeom>
          <a:noFill/>
        </p:spPr>
        <p:txBody>
          <a:bodyPr vertOverflow="clip" horzOverflow="clip" wrap="square" lIns="0" tIns="0" rIns="0" bIns="0" rtlCol="0" anchor="t">
            <a:spAutoFit/>
          </a:bodyPr>
          <a:lstStyle/>
          <a:p>
            <a:pPr>
              <a:lnSpc>
                <a:spcPts val="1350"/>
              </a:lnSpc>
            </a:pPr>
            <a:r>
              <a:rPr lang="en-US" sz="900" spc="-5" dirty="0">
                <a:solidFill>
                  <a:srgbClr val="07071B">
                    <a:alpha val="100000"/>
                  </a:srgbClr>
                </a:solidFill>
                <a:latin typeface="Roboto" panose="00000700000000000000" pitchFamily="2" charset="0"/>
              </a:rPr>
              <a:t>Define core values early to shape architecture and decisions.</a:t>
            </a:r>
          </a:p>
        </p:txBody>
      </p:sp>
      <p:pic>
        <p:nvPicPr>
          <p:cNvPr id="377" name="iconNode1">
            <a:extLst>
              <a:ext uri="{FF2B5EF4-FFF2-40B4-BE49-F238E27FC236}">
                <a16:creationId xmlns:a16="http://schemas.microsoft.com/office/drawing/2014/main" id="{A8642F66-C0BB-4949-9A9C-024B120A5D52}"/>
              </a:ext>
            </a:extLst>
          </p:cNvPr>
          <p:cNvPicPr>
            <a:picLocks noChangeAspect="1"/>
          </p:cNvPicPr>
          <p:nvPr/>
        </p:nvPicPr>
        <p:blipFill rotWithShape="1">
          <a:blip r:embed="rId82">
            <a:alphaModFix/>
            <a:extLst>
              <a:ext uri="{0A48B608-D83A-4A5F-BDDA-CAFDA579A911}">
                <asvg:svgBlip xmlns="" xmlns:a16="http://schemas.microsoft.com/office/drawing/2014/main" xmlns:a14="http://schemas.microsoft.com/office/drawing/2010/main" xmlns:p14="http://schemas.microsoft.com/office/powerpoint/2010/main" xmlns:asvg="http://schemas.microsoft.com/office/drawing/2016/SVG/main" r:embed="rId84"/>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4351846" y="1725994"/>
            <a:ext cx="731457" cy="731457"/>
          </a:xfrm>
          <a:prstGeom prst="rect">
            <a:avLst/>
          </a:prstGeom>
        </p:spPr>
      </p:pic>
      <p:sp>
        <p:nvSpPr>
          <p:cNvPr id="379" name="Primary Heading-1">
            <a:extLst>
              <a:ext uri="{FF2B5EF4-FFF2-40B4-BE49-F238E27FC236}">
                <a16:creationId xmlns:a16="http://schemas.microsoft.com/office/drawing/2014/main" id="{111B4A49-B930-4A89-A1CD-6CA2B3D95AED}"/>
              </a:ext>
            </a:extLst>
          </p:cNvPr>
          <p:cNvSpPr txBox="1"/>
          <p:nvPr/>
        </p:nvSpPr>
        <p:spPr>
          <a:xfrm>
            <a:off x="4351845" y="2660650"/>
            <a:ext cx="3508375" cy="680956"/>
          </a:xfrm>
          <a:prstGeom prst="rect">
            <a:avLst/>
          </a:prstGeom>
          <a:noFill/>
        </p:spPr>
        <p:txBody>
          <a:bodyPr vertOverflow="clip" horzOverflow="clip" wrap="square" lIns="0" tIns="0" rIns="0" bIns="0" rtlCol="0" anchor="t">
            <a:spAutoFit/>
          </a:bodyPr>
          <a:lstStyle/>
          <a:p>
            <a:pPr>
              <a:lnSpc>
                <a:spcPts val="1848"/>
              </a:lnSpc>
            </a:pPr>
            <a:r>
              <a:rPr lang="en-US" sz="1200" spc="-21" dirty="0">
                <a:solidFill>
                  <a:srgbClr val="07071B">
                    <a:alpha val="100000"/>
                  </a:srgbClr>
                </a:solidFill>
                <a:latin typeface="Poppins SemiBold" panose="00000700000000000000" pitchFamily="2" charset="0"/>
              </a:rPr>
              <a:t>AI DATA: QUALITY DATA FOR VALUES IS CRITICAL; DATA QUALITY ON VALUES TO BE USED FOR AI PROGRAMMING IS ESSENTIAL.</a:t>
            </a:r>
          </a:p>
        </p:txBody>
      </p:sp>
      <p:sp>
        <p:nvSpPr>
          <p:cNvPr id="381" name="Description of a primary heading-1">
            <a:extLst>
              <a:ext uri="{FF2B5EF4-FFF2-40B4-BE49-F238E27FC236}">
                <a16:creationId xmlns:a16="http://schemas.microsoft.com/office/drawing/2014/main" id="{111B4A49-B930-4A89-A1CD-6CA2B3D95AED}"/>
              </a:ext>
            </a:extLst>
          </p:cNvPr>
          <p:cNvSpPr txBox="1"/>
          <p:nvPr/>
        </p:nvSpPr>
        <p:spPr>
          <a:xfrm>
            <a:off x="4351845" y="3397250"/>
            <a:ext cx="3508375" cy="163506"/>
          </a:xfrm>
          <a:prstGeom prst="rect">
            <a:avLst/>
          </a:prstGeom>
          <a:noFill/>
        </p:spPr>
        <p:txBody>
          <a:bodyPr vertOverflow="clip" horzOverflow="clip" wrap="square" lIns="0" tIns="0" rIns="0" bIns="0" rtlCol="0" anchor="t">
            <a:spAutoFit/>
          </a:bodyPr>
          <a:lstStyle/>
          <a:p>
            <a:pPr>
              <a:lnSpc>
                <a:spcPts val="1350"/>
              </a:lnSpc>
            </a:pPr>
            <a:r>
              <a:rPr lang="en-US" sz="900" spc="-5" dirty="0">
                <a:solidFill>
                  <a:srgbClr val="07071B">
                    <a:alpha val="100000"/>
                  </a:srgbClr>
                </a:solidFill>
                <a:latin typeface="Roboto" panose="00000700000000000000" pitchFamily="2" charset="0"/>
              </a:rPr>
              <a:t>Ensure datasets reflect chosen values and high quality standards.</a:t>
            </a:r>
          </a:p>
        </p:txBody>
      </p:sp>
      <p:pic>
        <p:nvPicPr>
          <p:cNvPr id="383" name="iconNode2">
            <a:extLst>
              <a:ext uri="{FF2B5EF4-FFF2-40B4-BE49-F238E27FC236}">
                <a16:creationId xmlns:a16="http://schemas.microsoft.com/office/drawing/2014/main" id="{A8642F66-C0BB-4949-9A9C-024B120A5D52}"/>
              </a:ext>
            </a:extLst>
          </p:cNvPr>
          <p:cNvPicPr>
            <a:picLocks noChangeAspect="1"/>
          </p:cNvPicPr>
          <p:nvPr/>
        </p:nvPicPr>
        <p:blipFill rotWithShape="1">
          <a:blip r:embed="rId85">
            <a:alphaModFix/>
            <a:extLst>
              <a:ext uri="{060035D6-85FC-4B14-8783-5508E3061D16}">
                <asvg:svgBlip xmlns="" xmlns:a16="http://schemas.microsoft.com/office/drawing/2014/main" xmlns:a14="http://schemas.microsoft.com/office/drawing/2010/main" xmlns:p14="http://schemas.microsoft.com/office/powerpoint/2010/main" xmlns:asvg="http://schemas.microsoft.com/office/drawing/2016/SVG/main" r:embed="rId87"/>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8195691" y="1725994"/>
            <a:ext cx="731457" cy="731457"/>
          </a:xfrm>
          <a:prstGeom prst="rect">
            <a:avLst/>
          </a:prstGeom>
        </p:spPr>
      </p:pic>
      <p:sp>
        <p:nvSpPr>
          <p:cNvPr id="385" name="Primary Heading-2">
            <a:extLst>
              <a:ext uri="{FF2B5EF4-FFF2-40B4-BE49-F238E27FC236}">
                <a16:creationId xmlns:a16="http://schemas.microsoft.com/office/drawing/2014/main" id="{111B4A49-B930-4A89-A1CD-6CA2B3D95AED}"/>
              </a:ext>
            </a:extLst>
          </p:cNvPr>
          <p:cNvSpPr txBox="1"/>
          <p:nvPr/>
        </p:nvSpPr>
        <p:spPr>
          <a:xfrm>
            <a:off x="8195691" y="2660650"/>
            <a:ext cx="3508375" cy="911788"/>
          </a:xfrm>
          <a:prstGeom prst="rect">
            <a:avLst/>
          </a:prstGeom>
          <a:noFill/>
        </p:spPr>
        <p:txBody>
          <a:bodyPr vertOverflow="clip" horzOverflow="clip" wrap="square" lIns="0" tIns="0" rIns="0" bIns="0" rtlCol="0" anchor="t">
            <a:spAutoFit/>
          </a:bodyPr>
          <a:lstStyle/>
          <a:p>
            <a:pPr>
              <a:lnSpc>
                <a:spcPts val="1848"/>
              </a:lnSpc>
            </a:pPr>
            <a:r>
              <a:rPr lang="en-US" sz="1200" spc="-21" dirty="0">
                <a:solidFill>
                  <a:srgbClr val="07071B">
                    <a:alpha val="100000"/>
                  </a:srgbClr>
                </a:solidFill>
                <a:latin typeface="Poppins SemiBold" panose="00000700000000000000" pitchFamily="2" charset="0"/>
              </a:rPr>
              <a:t>USER VALUE SELECTION: USERS NEED TO BE ABLE TO SELECT THEIR VALUE-BASED FUNDAMENTALS FROM QUALITY DATA WITH RELIGIOSITY FROM FAITH AS INTEGRAL VALUES.</a:t>
            </a:r>
          </a:p>
        </p:txBody>
      </p:sp>
      <p:sp>
        <p:nvSpPr>
          <p:cNvPr id="387" name="Description of a primary heading-2">
            <a:extLst>
              <a:ext uri="{FF2B5EF4-FFF2-40B4-BE49-F238E27FC236}">
                <a16:creationId xmlns:a16="http://schemas.microsoft.com/office/drawing/2014/main" id="{111B4A49-B930-4A89-A1CD-6CA2B3D95AED}"/>
              </a:ext>
            </a:extLst>
          </p:cNvPr>
          <p:cNvSpPr txBox="1"/>
          <p:nvPr/>
        </p:nvSpPr>
        <p:spPr>
          <a:xfrm>
            <a:off x="8195691" y="3625850"/>
            <a:ext cx="3508375" cy="163506"/>
          </a:xfrm>
          <a:prstGeom prst="rect">
            <a:avLst/>
          </a:prstGeom>
          <a:noFill/>
        </p:spPr>
        <p:txBody>
          <a:bodyPr vertOverflow="clip" horzOverflow="clip" wrap="square" lIns="0" tIns="0" rIns="0" bIns="0" rtlCol="0" anchor="t">
            <a:spAutoFit/>
          </a:bodyPr>
          <a:lstStyle/>
          <a:p>
            <a:pPr>
              <a:lnSpc>
                <a:spcPts val="1350"/>
              </a:lnSpc>
            </a:pPr>
            <a:r>
              <a:rPr lang="en-US" sz="900" spc="-5" dirty="0">
                <a:solidFill>
                  <a:srgbClr val="07071B">
                    <a:alpha val="100000"/>
                  </a:srgbClr>
                </a:solidFill>
                <a:latin typeface="Roboto" panose="00000700000000000000" pitchFamily="2" charset="0"/>
              </a:rPr>
              <a:t>Provide interfaces for users to choose value priorities, including faith.</a:t>
            </a:r>
          </a:p>
        </p:txBody>
      </p:sp>
      <p:pic>
        <p:nvPicPr>
          <p:cNvPr id="389" name="iconNode3">
            <a:extLst>
              <a:ext uri="{FF2B5EF4-FFF2-40B4-BE49-F238E27FC236}">
                <a16:creationId xmlns:a16="http://schemas.microsoft.com/office/drawing/2014/main" id="{A8642F66-C0BB-4949-9A9C-024B120A5D52}"/>
              </a:ext>
            </a:extLst>
          </p:cNvPr>
          <p:cNvPicPr>
            <a:picLocks noChangeAspect="1"/>
          </p:cNvPicPr>
          <p:nvPr/>
        </p:nvPicPr>
        <p:blipFill rotWithShape="1">
          <a:blip r:embed="rId88">
            <a:alphaModFix/>
            <a:extLst>
              <a:ext uri="{07ED02DA-DFDB-400A-B51E-BDE337627831}">
                <asvg:svgBlip xmlns="" xmlns:a16="http://schemas.microsoft.com/office/drawing/2014/main" xmlns:a14="http://schemas.microsoft.com/office/drawing/2010/main" xmlns:p14="http://schemas.microsoft.com/office/powerpoint/2010/main" xmlns:asvg="http://schemas.microsoft.com/office/drawing/2016/SVG/main" r:embed="rId90"/>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508000" y="4152900"/>
            <a:ext cx="731457" cy="731457"/>
          </a:xfrm>
          <a:prstGeom prst="rect">
            <a:avLst/>
          </a:prstGeom>
        </p:spPr>
      </p:pic>
      <p:sp>
        <p:nvSpPr>
          <p:cNvPr id="391" name="Primary Heading-3">
            <a:extLst>
              <a:ext uri="{FF2B5EF4-FFF2-40B4-BE49-F238E27FC236}">
                <a16:creationId xmlns:a16="http://schemas.microsoft.com/office/drawing/2014/main" id="{111B4A49-B930-4A89-A1CD-6CA2B3D95AED}"/>
              </a:ext>
            </a:extLst>
          </p:cNvPr>
          <p:cNvSpPr txBox="1"/>
          <p:nvPr/>
        </p:nvSpPr>
        <p:spPr>
          <a:xfrm>
            <a:off x="508000" y="5087557"/>
            <a:ext cx="3508375" cy="911788"/>
          </a:xfrm>
          <a:prstGeom prst="rect">
            <a:avLst/>
          </a:prstGeom>
          <a:noFill/>
        </p:spPr>
        <p:txBody>
          <a:bodyPr vertOverflow="clip" horzOverflow="clip" wrap="square" lIns="0" tIns="0" rIns="0" bIns="0" rtlCol="0" anchor="t">
            <a:spAutoFit/>
          </a:bodyPr>
          <a:lstStyle/>
          <a:p>
            <a:pPr>
              <a:lnSpc>
                <a:spcPts val="1848"/>
              </a:lnSpc>
            </a:pPr>
            <a:r>
              <a:rPr lang="en-US" sz="1200" spc="-21" dirty="0">
                <a:solidFill>
                  <a:srgbClr val="07071B">
                    <a:alpha val="100000"/>
                  </a:srgbClr>
                </a:solidFill>
                <a:latin typeface="Poppins SemiBold" panose="00000700000000000000" pitchFamily="2" charset="0"/>
              </a:rPr>
              <a:t>DIGITAL SOVEREIGNTY IMPLEMENTATION: DIGITAL SOVEREIGNTY ALLOWS THE USER TO IMPORT, MANAGE, EXPORT AND SHARE DATA IN A TRUSTED SOCIAL NETWORK.</a:t>
            </a:r>
          </a:p>
        </p:txBody>
      </p:sp>
      <p:sp>
        <p:nvSpPr>
          <p:cNvPr id="393" name="Description of a primary heading-3">
            <a:extLst>
              <a:ext uri="{FF2B5EF4-FFF2-40B4-BE49-F238E27FC236}">
                <a16:creationId xmlns:a16="http://schemas.microsoft.com/office/drawing/2014/main" id="{111B4A49-B930-4A89-A1CD-6CA2B3D95AED}"/>
              </a:ext>
            </a:extLst>
          </p:cNvPr>
          <p:cNvSpPr txBox="1"/>
          <p:nvPr/>
        </p:nvSpPr>
        <p:spPr>
          <a:xfrm>
            <a:off x="508000" y="6052757"/>
            <a:ext cx="3508375" cy="163506"/>
          </a:xfrm>
          <a:prstGeom prst="rect">
            <a:avLst/>
          </a:prstGeom>
          <a:noFill/>
        </p:spPr>
        <p:txBody>
          <a:bodyPr vertOverflow="clip" horzOverflow="clip" wrap="square" lIns="0" tIns="0" rIns="0" bIns="0" rtlCol="0" anchor="t">
            <a:spAutoFit/>
          </a:bodyPr>
          <a:lstStyle/>
          <a:p>
            <a:pPr>
              <a:lnSpc>
                <a:spcPts val="1350"/>
              </a:lnSpc>
            </a:pPr>
            <a:r>
              <a:rPr lang="en-US" sz="900" spc="-5" dirty="0">
                <a:solidFill>
                  <a:srgbClr val="07071B">
                    <a:alpha val="100000"/>
                  </a:srgbClr>
                </a:solidFill>
                <a:latin typeface="Roboto" panose="00000700000000000000" pitchFamily="2" charset="0"/>
              </a:rPr>
              <a:t>Enable user control over their data lifecycle and sharing settings.</a:t>
            </a:r>
          </a:p>
        </p:txBody>
      </p:sp>
      <p:pic>
        <p:nvPicPr>
          <p:cNvPr id="395" name="iconNode4">
            <a:extLst>
              <a:ext uri="{FF2B5EF4-FFF2-40B4-BE49-F238E27FC236}">
                <a16:creationId xmlns:a16="http://schemas.microsoft.com/office/drawing/2014/main" id="{A8642F66-C0BB-4949-9A9C-024B120A5D52}"/>
              </a:ext>
            </a:extLst>
          </p:cNvPr>
          <p:cNvPicPr>
            <a:picLocks noChangeAspect="1"/>
          </p:cNvPicPr>
          <p:nvPr/>
        </p:nvPicPr>
        <p:blipFill rotWithShape="1">
          <a:blip r:embed="rId91">
            <a:alphaModFix/>
            <a:extLst>
              <a:ext uri="{DA562E52-8B36-4D01-907E-D5E27644444F}">
                <asvg:svgBlip xmlns="" xmlns:a16="http://schemas.microsoft.com/office/drawing/2014/main" xmlns:a14="http://schemas.microsoft.com/office/drawing/2010/main" xmlns:p14="http://schemas.microsoft.com/office/powerpoint/2010/main" xmlns:asvg="http://schemas.microsoft.com/office/drawing/2016/SVG/main" r:embed="rId93"/>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4351846" y="4152900"/>
            <a:ext cx="731457" cy="731457"/>
          </a:xfrm>
          <a:prstGeom prst="rect">
            <a:avLst/>
          </a:prstGeom>
        </p:spPr>
      </p:pic>
      <p:sp>
        <p:nvSpPr>
          <p:cNvPr id="397" name="Primary Heading-4">
            <a:extLst>
              <a:ext uri="{FF2B5EF4-FFF2-40B4-BE49-F238E27FC236}">
                <a16:creationId xmlns:a16="http://schemas.microsoft.com/office/drawing/2014/main" id="{111B4A49-B930-4A89-A1CD-6CA2B3D95AED}"/>
              </a:ext>
            </a:extLst>
          </p:cNvPr>
          <p:cNvSpPr txBox="1"/>
          <p:nvPr/>
        </p:nvSpPr>
        <p:spPr>
          <a:xfrm>
            <a:off x="4351845" y="5087557"/>
            <a:ext cx="3508375" cy="680956"/>
          </a:xfrm>
          <a:prstGeom prst="rect">
            <a:avLst/>
          </a:prstGeom>
          <a:noFill/>
        </p:spPr>
        <p:txBody>
          <a:bodyPr vertOverflow="clip" horzOverflow="clip" wrap="square" lIns="0" tIns="0" rIns="0" bIns="0" rtlCol="0" anchor="t">
            <a:spAutoFit/>
          </a:bodyPr>
          <a:lstStyle/>
          <a:p>
            <a:pPr>
              <a:lnSpc>
                <a:spcPts val="1848"/>
              </a:lnSpc>
            </a:pPr>
            <a:r>
              <a:rPr lang="en-US" sz="1200" spc="-21" dirty="0">
                <a:solidFill>
                  <a:srgbClr val="07071B">
                    <a:alpha val="100000"/>
                  </a:srgbClr>
                </a:solidFill>
                <a:latin typeface="Poppins SemiBold" panose="00000700000000000000" pitchFamily="2" charset="0"/>
              </a:rPr>
              <a:t>SOVEREIGN AI IMPLEMENTATION: USER SELECTS THE VALUES AND CONTROLS THE DESIGN, OPERATIONS, AND USE OF THE SYSTEM.</a:t>
            </a:r>
          </a:p>
        </p:txBody>
      </p:sp>
      <p:sp>
        <p:nvSpPr>
          <p:cNvPr id="399" name="Description of a primary heading-4">
            <a:extLst>
              <a:ext uri="{FF2B5EF4-FFF2-40B4-BE49-F238E27FC236}">
                <a16:creationId xmlns:a16="http://schemas.microsoft.com/office/drawing/2014/main" id="{111B4A49-B930-4A89-A1CD-6CA2B3D95AED}"/>
              </a:ext>
            </a:extLst>
          </p:cNvPr>
          <p:cNvSpPr txBox="1"/>
          <p:nvPr/>
        </p:nvSpPr>
        <p:spPr>
          <a:xfrm>
            <a:off x="4351845" y="5824157"/>
            <a:ext cx="3508375" cy="163506"/>
          </a:xfrm>
          <a:prstGeom prst="rect">
            <a:avLst/>
          </a:prstGeom>
          <a:noFill/>
        </p:spPr>
        <p:txBody>
          <a:bodyPr vertOverflow="clip" horzOverflow="clip" wrap="square" lIns="0" tIns="0" rIns="0" bIns="0" rtlCol="0" anchor="t">
            <a:spAutoFit/>
          </a:bodyPr>
          <a:lstStyle/>
          <a:p>
            <a:pPr>
              <a:lnSpc>
                <a:spcPts val="1350"/>
              </a:lnSpc>
            </a:pPr>
            <a:r>
              <a:rPr lang="en-US" sz="900" spc="-5" dirty="0">
                <a:solidFill>
                  <a:srgbClr val="07071B">
                    <a:alpha val="100000"/>
                  </a:srgbClr>
                </a:solidFill>
                <a:latin typeface="Roboto" panose="00000700000000000000" pitchFamily="2" charset="0"/>
              </a:rPr>
              <a:t>Keep humans in control of value choices and operational governance.</a:t>
            </a:r>
          </a:p>
        </p:txBody>
      </p:sp>
      <p:sp>
        <p:nvSpPr>
          <p:cNvPr id="401" name="Title 3">
            <a:extLst>
              <a:ext uri="{FF2B5EF4-FFF2-40B4-BE49-F238E27FC236}">
                <a16:creationId xmlns:a16="http://schemas.microsoft.com/office/drawing/2014/main" id="{111B4A49-B930-4A89-A1CD-6CA2B3D95AED}"/>
              </a:ext>
            </a:extLst>
          </p:cNvPr>
          <p:cNvSpPr txBox="1"/>
          <p:nvPr/>
        </p:nvSpPr>
        <p:spPr>
          <a:xfrm>
            <a:off x="508000" y="485394"/>
            <a:ext cx="10131425" cy="473206"/>
          </a:xfrm>
          <a:prstGeom prst="rect">
            <a:avLst/>
          </a:prstGeom>
          <a:noFill/>
        </p:spPr>
        <p:txBody>
          <a:bodyPr vertOverflow="clip" horzOverflow="clip" wrap="square" lIns="0" tIns="0" rIns="0" bIns="0" rtlCol="0" anchor="t">
            <a:spAutoFit/>
          </a:bodyPr>
          <a:lstStyle/>
          <a:p>
            <a:pPr>
              <a:lnSpc>
                <a:spcPts val="3780"/>
              </a:lnSpc>
            </a:pPr>
            <a:r>
              <a:rPr lang="en-US" sz="2800" spc="-61" dirty="0">
                <a:solidFill>
                  <a:srgbClr val="07071B">
                    <a:alpha val="100000"/>
                  </a:srgbClr>
                </a:solidFill>
                <a:latin typeface="Poppins SemiBold" panose="00000700000000000000" pitchFamily="2" charset="0"/>
              </a:rPr>
              <a:t>IMPLEMENTING </a:t>
            </a:r>
            <a:r>
              <a:rPr lang="en-US" sz="2800" b="1" spc="-61" dirty="0">
                <a:solidFill>
                  <a:srgbClr val="07071B"/>
                </a:solidFill>
                <a:latin typeface="Poppins SemiBold" panose="00000700000000000000" pitchFamily="2" charset="0"/>
              </a:rPr>
              <a:t>VALUES</a:t>
            </a:r>
            <a:r>
              <a:rPr lang="en-US" sz="2800" spc="-61" dirty="0">
                <a:solidFill>
                  <a:srgbClr val="07071B"/>
                </a:solidFill>
                <a:latin typeface="Poppins SemiBold" panose="00000700000000000000" pitchFamily="2" charset="0"/>
              </a:rPr>
              <a:t> INTO AI PROGRAMMING CODE</a:t>
            </a:r>
          </a:p>
        </p:txBody>
      </p:sp>
      <p:sp>
        <p:nvSpPr>
          <p:cNvPr id="403" name="SubTitle">
            <a:extLst>
              <a:ext uri="{FF2B5EF4-FFF2-40B4-BE49-F238E27FC236}">
                <a16:creationId xmlns:a16="http://schemas.microsoft.com/office/drawing/2014/main" id="{111B4A49-B930-4A89-A1CD-6CA2B3D95AED}"/>
              </a:ext>
            </a:extLst>
          </p:cNvPr>
          <p:cNvSpPr txBox="1"/>
          <p:nvPr/>
        </p:nvSpPr>
        <p:spPr>
          <a:xfrm>
            <a:off x="508000" y="1066800"/>
            <a:ext cx="10131425" cy="201978"/>
          </a:xfrm>
          <a:prstGeom prst="rect">
            <a:avLst/>
          </a:prstGeom>
          <a:noFill/>
        </p:spPr>
        <p:txBody>
          <a:bodyPr vertOverflow="clip" horzOverflow="clip" wrap="square" lIns="0" tIns="0" rIns="0" bIns="0" rtlCol="0" anchor="t">
            <a:spAutoFit/>
          </a:bodyPr>
          <a:lstStyle/>
          <a:p>
            <a:pPr>
              <a:lnSpc>
                <a:spcPts val="1740"/>
              </a:lnSpc>
            </a:pPr>
            <a:r>
              <a:rPr lang="en-US" sz="1200" spc="-6" dirty="0">
                <a:solidFill>
                  <a:srgbClr val="6C6C80">
                    <a:alpha val="100000"/>
                  </a:srgbClr>
                </a:solidFill>
                <a:latin typeface="Roboto" panose="00000700000000000000" pitchFamily="2" charset="0"/>
              </a:rPr>
              <a:t>Practical steps to embed user-selected values and digital sovereignty</a:t>
            </a:r>
          </a:p>
        </p:txBody>
      </p:sp>
      <p:sp>
        <p:nvSpPr>
          <p:cNvPr id="2" name="Footer Placeholder 1">
            <a:extLst>
              <a:ext uri="{FF2B5EF4-FFF2-40B4-BE49-F238E27FC236}">
                <a16:creationId xmlns:a16="http://schemas.microsoft.com/office/drawing/2014/main" id="{26046314-8B48-ACFD-89FE-F959F219C0A4}"/>
              </a:ext>
            </a:extLst>
          </p:cNvPr>
          <p:cNvSpPr>
            <a:spLocks noGrp="1"/>
          </p:cNvSpPr>
          <p:nvPr>
            <p:ph type="ftr" sz="quarter" idx="11"/>
          </p:nvPr>
        </p:nvSpPr>
        <p:spPr/>
        <p:txBody>
          <a:bodyPr/>
          <a:lstStyle/>
          <a:p>
            <a:r>
              <a:rPr lang="en-US"/>
              <a:t>by Zoltan Pap © December 25, 2025</a:t>
            </a:r>
          </a:p>
        </p:txBody>
      </p:sp>
    </p:spTree>
    <p:extLst>
      <p:ext uri="{BB962C8B-B14F-4D97-AF65-F5344CB8AC3E}">
        <p14:creationId xmlns:p14="http://schemas.microsoft.com/office/powerpoint/2010/main" val="2922615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2192000" cy="6858000"/>
          </a:xfrm>
          <a:prstGeom prst="rect">
            <a:avLst/>
          </a:prstGeom>
        </p:spPr>
      </p:pic>
      <p:pic>
        <p:nvPicPr>
          <p:cNvPr id="40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2192000" cy="6858000"/>
          </a:xfrm>
          <a:prstGeom prst="rect">
            <a:avLst/>
          </a:prstGeom>
        </p:spPr>
      </p:pic>
      <p:pic>
        <p:nvPicPr>
          <p:cNvPr id="40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0439667" y="0"/>
            <a:ext cx="1752333" cy="2742462"/>
          </a:xfrm>
          <a:prstGeom prst="rect">
            <a:avLst/>
          </a:prstGeom>
        </p:spPr>
      </p:pic>
      <p:pic>
        <p:nvPicPr>
          <p:cNvPr id="41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0" y="0"/>
            <a:ext cx="4241800" cy="6858000"/>
          </a:xfrm>
          <a:prstGeom prst="rect">
            <a:avLst/>
          </a:prstGeom>
        </p:spPr>
      </p:pic>
      <p:pic>
        <p:nvPicPr>
          <p:cNvPr id="412" name="::before">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3009900" y="5626100"/>
            <a:ext cx="1231900" cy="1231900"/>
          </a:xfrm>
          <a:prstGeom prst="rect">
            <a:avLst/>
          </a:prstGeom>
        </p:spPr>
      </p:pic>
      <p:pic>
        <p:nvPicPr>
          <p:cNvPr id="41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5111750" y="951905"/>
            <a:ext cx="25400" cy="1238250"/>
          </a:xfrm>
          <a:prstGeom prst="rect">
            <a:avLst/>
          </a:prstGeom>
        </p:spPr>
      </p:pic>
      <p:pic>
        <p:nvPicPr>
          <p:cNvPr id="41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4775200" y="601980"/>
            <a:ext cx="698500" cy="698500"/>
          </a:xfrm>
          <a:prstGeom prst="rect">
            <a:avLst/>
          </a:prstGeom>
        </p:spPr>
      </p:pic>
      <p:pic>
        <p:nvPicPr>
          <p:cNvPr id="417" name="iconNode0">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extLst>
              <a:ext uri="{683684A8-D1D0-4720-AA22-6945B24EC3D4}">
                <asvg:svgBlip xmlns="" xmlns:a16="http://schemas.microsoft.com/office/drawing/2014/main" xmlns:a14="http://schemas.microsoft.com/office/drawing/2010/main" xmlns:p14="http://schemas.microsoft.com/office/powerpoint/2010/main" xmlns:asvg="http://schemas.microsoft.com/office/drawing/2016/SVG/main" r:embed="rId112"/>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4950397" y="777177"/>
            <a:ext cx="350457" cy="350457"/>
          </a:xfrm>
          <a:prstGeom prst="rect">
            <a:avLst/>
          </a:prstGeom>
        </p:spPr>
      </p:pic>
      <p:sp>
        <p:nvSpPr>
          <p:cNvPr id="419" name="Primary Heading-0">
            <a:extLst>
              <a:ext uri="{FF2B5EF4-FFF2-40B4-BE49-F238E27FC236}">
                <a16:creationId xmlns:a16="http://schemas.microsoft.com/office/drawing/2014/main" id="{111B4A49-B930-4A89-A1CD-6CA2B3D95AED}"/>
              </a:ext>
            </a:extLst>
          </p:cNvPr>
          <p:cNvSpPr txBox="1"/>
          <p:nvPr/>
        </p:nvSpPr>
        <p:spPr>
          <a:xfrm>
            <a:off x="5679377" y="841947"/>
            <a:ext cx="6029325" cy="201978"/>
          </a:xfrm>
          <a:prstGeom prst="rect">
            <a:avLst/>
          </a:prstGeom>
          <a:noFill/>
        </p:spPr>
        <p:txBody>
          <a:bodyPr vertOverflow="clip" horzOverflow="clip" wrap="square" lIns="0" tIns="0" rIns="0" bIns="0" rtlCol="0" anchor="t">
            <a:spAutoFit/>
          </a:bodyPr>
          <a:lstStyle/>
          <a:p>
            <a:pPr>
              <a:lnSpc>
                <a:spcPts val="1740"/>
              </a:lnSpc>
            </a:pPr>
            <a:r>
              <a:rPr lang="en-US" sz="1200" spc="-6" dirty="0">
                <a:solidFill>
                  <a:srgbClr val="07071B">
                    <a:alpha val="100000"/>
                  </a:srgbClr>
                </a:solidFill>
                <a:latin typeface="Roboto" panose="00000700000000000000" pitchFamily="2" charset="0"/>
              </a:rPr>
              <a:t>Catholic Social Teaching provides high quality data for value-based AI programming.</a:t>
            </a:r>
          </a:p>
        </p:txBody>
      </p:sp>
      <p:pic>
        <p:nvPicPr>
          <p:cNvPr id="42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5111750" y="2190179"/>
            <a:ext cx="25400" cy="1238250"/>
          </a:xfrm>
          <a:prstGeom prst="rect">
            <a:avLst/>
          </a:prstGeom>
        </p:spPr>
      </p:pic>
      <p:pic>
        <p:nvPicPr>
          <p:cNvPr id="42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4775200" y="1840230"/>
            <a:ext cx="698500" cy="698500"/>
          </a:xfrm>
          <a:prstGeom prst="rect">
            <a:avLst/>
          </a:prstGeom>
        </p:spPr>
      </p:pic>
      <p:pic>
        <p:nvPicPr>
          <p:cNvPr id="423" name="iconNode1">
            <a:extLst>
              <a:ext uri="{FF2B5EF4-FFF2-40B4-BE49-F238E27FC236}">
                <a16:creationId xmlns:a16="http://schemas.microsoft.com/office/drawing/2014/main" id="{A8642F66-C0BB-4949-9A9C-024B120A5D52}"/>
              </a:ext>
            </a:extLst>
          </p:cNvPr>
          <p:cNvPicPr>
            <a:picLocks noChangeAspect="1"/>
          </p:cNvPicPr>
          <p:nvPr/>
        </p:nvPicPr>
        <p:blipFill rotWithShape="1">
          <a:blip r:embed="rId113">
            <a:alphaModFix/>
            <a:extLst>
              <a:ext uri="{4FD64954-421D-4455-AD5B-0A3F56491CCA}">
                <asvg:svgBlip xmlns="" xmlns:a16="http://schemas.microsoft.com/office/drawing/2014/main" xmlns:a14="http://schemas.microsoft.com/office/drawing/2010/main" xmlns:p14="http://schemas.microsoft.com/office/powerpoint/2010/main" xmlns:asvg="http://schemas.microsoft.com/office/drawing/2016/SVG/main" r:embed="rId119"/>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4950397" y="2015427"/>
            <a:ext cx="350457" cy="350457"/>
          </a:xfrm>
          <a:prstGeom prst="rect">
            <a:avLst/>
          </a:prstGeom>
        </p:spPr>
      </p:pic>
      <p:sp>
        <p:nvSpPr>
          <p:cNvPr id="425" name="Primary Heading-1">
            <a:extLst>
              <a:ext uri="{FF2B5EF4-FFF2-40B4-BE49-F238E27FC236}">
                <a16:creationId xmlns:a16="http://schemas.microsoft.com/office/drawing/2014/main" id="{111B4A49-B930-4A89-A1CD-6CA2B3D95AED}"/>
              </a:ext>
            </a:extLst>
          </p:cNvPr>
          <p:cNvSpPr txBox="1"/>
          <p:nvPr/>
        </p:nvSpPr>
        <p:spPr>
          <a:xfrm>
            <a:off x="5679377" y="1866774"/>
            <a:ext cx="6029325" cy="637995"/>
          </a:xfrm>
          <a:prstGeom prst="rect">
            <a:avLst/>
          </a:prstGeom>
          <a:noFill/>
        </p:spPr>
        <p:txBody>
          <a:bodyPr vertOverflow="clip" horzOverflow="clip" wrap="square" lIns="0" tIns="0" rIns="0" bIns="0" rtlCol="0" anchor="t">
            <a:spAutoFit/>
          </a:bodyPr>
          <a:lstStyle/>
          <a:p>
            <a:pPr>
              <a:lnSpc>
                <a:spcPts val="1740"/>
              </a:lnSpc>
            </a:pPr>
            <a:r>
              <a:rPr lang="en-US" sz="1200" spc="-6" dirty="0">
                <a:solidFill>
                  <a:srgbClr val="07071B">
                    <a:alpha val="100000"/>
                  </a:srgbClr>
                </a:solidFill>
                <a:latin typeface="Roboto" panose="00000700000000000000" pitchFamily="2" charset="0"/>
              </a:rPr>
              <a:t>At its core, Catholic Social Teaching are fundamental values on inherent dignity for humans and principle to will help ensure AI systems treat users with respect for their human rights.</a:t>
            </a:r>
          </a:p>
        </p:txBody>
      </p:sp>
      <p:pic>
        <p:nvPicPr>
          <p:cNvPr id="42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5111750" y="3428429"/>
            <a:ext cx="25400" cy="1238250"/>
          </a:xfrm>
          <a:prstGeom prst="rect">
            <a:avLst/>
          </a:prstGeom>
        </p:spPr>
      </p:pic>
      <p:pic>
        <p:nvPicPr>
          <p:cNvPr id="42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4775200" y="3078480"/>
            <a:ext cx="698500" cy="698500"/>
          </a:xfrm>
          <a:prstGeom prst="rect">
            <a:avLst/>
          </a:prstGeom>
        </p:spPr>
      </p:pic>
      <p:pic>
        <p:nvPicPr>
          <p:cNvPr id="429" name="iconNode2">
            <a:extLst>
              <a:ext uri="{FF2B5EF4-FFF2-40B4-BE49-F238E27FC236}">
                <a16:creationId xmlns:a16="http://schemas.microsoft.com/office/drawing/2014/main" id="{A8642F66-C0BB-4949-9A9C-024B120A5D52}"/>
              </a:ext>
            </a:extLst>
          </p:cNvPr>
          <p:cNvPicPr>
            <a:picLocks noChangeAspect="1"/>
          </p:cNvPicPr>
          <p:nvPr/>
        </p:nvPicPr>
        <p:blipFill rotWithShape="1">
          <a:blip r:embed="rId120">
            <a:alphaModFix/>
          </a:blip>
          <a:stretch/>
        </p:blipFill>
        <p:spPr>
          <a:xfrm>
            <a:off x="4950397" y="3253677"/>
            <a:ext cx="350457" cy="350457"/>
          </a:xfrm>
          <a:prstGeom prst="rect">
            <a:avLst/>
          </a:prstGeom>
        </p:spPr>
      </p:pic>
      <p:sp>
        <p:nvSpPr>
          <p:cNvPr id="431" name="Primary Heading-2">
            <a:extLst>
              <a:ext uri="{FF2B5EF4-FFF2-40B4-BE49-F238E27FC236}">
                <a16:creationId xmlns:a16="http://schemas.microsoft.com/office/drawing/2014/main" id="{111B4A49-B930-4A89-A1CD-6CA2B3D95AED}"/>
              </a:ext>
            </a:extLst>
          </p:cNvPr>
          <p:cNvSpPr txBox="1"/>
          <p:nvPr/>
        </p:nvSpPr>
        <p:spPr>
          <a:xfrm>
            <a:off x="5679377" y="3212974"/>
            <a:ext cx="6029325" cy="419987"/>
          </a:xfrm>
          <a:prstGeom prst="rect">
            <a:avLst/>
          </a:prstGeom>
          <a:noFill/>
        </p:spPr>
        <p:txBody>
          <a:bodyPr vertOverflow="clip" horzOverflow="clip" wrap="square" lIns="0" tIns="0" rIns="0" bIns="0" rtlCol="0" anchor="t">
            <a:spAutoFit/>
          </a:bodyPr>
          <a:lstStyle/>
          <a:p>
            <a:pPr>
              <a:lnSpc>
                <a:spcPts val="1740"/>
              </a:lnSpc>
            </a:pPr>
            <a:r>
              <a:rPr lang="en-US" sz="1200" spc="-6" dirty="0">
                <a:solidFill>
                  <a:srgbClr val="07071B">
                    <a:alpha val="100000"/>
                  </a:srgbClr>
                </a:solidFill>
                <a:latin typeface="Roboto" panose="00000700000000000000" pitchFamily="2" charset="0"/>
              </a:rPr>
              <a:t>Catholic Social Teaching provides a strong moral framework that can shape AI behavior and actions and promote the common good to guide AI to prioritize societal well-being.</a:t>
            </a:r>
          </a:p>
        </p:txBody>
      </p:sp>
      <p:pic>
        <p:nvPicPr>
          <p:cNvPr id="43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5111750" y="4666679"/>
            <a:ext cx="25400" cy="1238250"/>
          </a:xfrm>
          <a:prstGeom prst="rect">
            <a:avLst/>
          </a:prstGeom>
        </p:spPr>
      </p:pic>
      <p:pic>
        <p:nvPicPr>
          <p:cNvPr id="43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4775200" y="4316730"/>
            <a:ext cx="698500" cy="698500"/>
          </a:xfrm>
          <a:prstGeom prst="rect">
            <a:avLst/>
          </a:prstGeom>
        </p:spPr>
      </p:pic>
      <p:pic>
        <p:nvPicPr>
          <p:cNvPr id="435" name="iconNode3">
            <a:extLst>
              <a:ext uri="{FF2B5EF4-FFF2-40B4-BE49-F238E27FC236}">
                <a16:creationId xmlns:a16="http://schemas.microsoft.com/office/drawing/2014/main" id="{A8642F66-C0BB-4949-9A9C-024B120A5D52}"/>
              </a:ext>
            </a:extLst>
          </p:cNvPr>
          <p:cNvPicPr>
            <a:picLocks noChangeAspect="1"/>
          </p:cNvPicPr>
          <p:nvPr/>
        </p:nvPicPr>
        <p:blipFill rotWithShape="1">
          <a:blip r:embed="rId121">
            <a:alphaModFix/>
            <a:extLst>
              <a:ext uri="{D20534DD-A9F7-48F2-83E3-0CBABAC2CDDD}">
                <asvg:svgBlip xmlns="" xmlns:a16="http://schemas.microsoft.com/office/drawing/2014/main" xmlns:a14="http://schemas.microsoft.com/office/drawing/2010/main" xmlns:p14="http://schemas.microsoft.com/office/powerpoint/2010/main" xmlns:asvg="http://schemas.microsoft.com/office/drawing/2016/SVG/main" r:embed="rId132"/>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4950397" y="4491927"/>
            <a:ext cx="350457" cy="350457"/>
          </a:xfrm>
          <a:prstGeom prst="rect">
            <a:avLst/>
          </a:prstGeom>
        </p:spPr>
      </p:pic>
      <p:sp>
        <p:nvSpPr>
          <p:cNvPr id="437" name="Primary Heading-3">
            <a:extLst>
              <a:ext uri="{FF2B5EF4-FFF2-40B4-BE49-F238E27FC236}">
                <a16:creationId xmlns:a16="http://schemas.microsoft.com/office/drawing/2014/main" id="{111B4A49-B930-4A89-A1CD-6CA2B3D95AED}"/>
              </a:ext>
            </a:extLst>
          </p:cNvPr>
          <p:cNvSpPr txBox="1"/>
          <p:nvPr/>
        </p:nvSpPr>
        <p:spPr>
          <a:xfrm>
            <a:off x="5679377" y="4343274"/>
            <a:ext cx="6029325" cy="637995"/>
          </a:xfrm>
          <a:prstGeom prst="rect">
            <a:avLst/>
          </a:prstGeom>
          <a:noFill/>
        </p:spPr>
        <p:txBody>
          <a:bodyPr vertOverflow="clip" horzOverflow="clip" wrap="square" lIns="0" tIns="0" rIns="0" bIns="0" rtlCol="0" anchor="t">
            <a:spAutoFit/>
          </a:bodyPr>
          <a:lstStyle/>
          <a:p>
            <a:pPr>
              <a:lnSpc>
                <a:spcPts val="1740"/>
              </a:lnSpc>
            </a:pPr>
            <a:r>
              <a:rPr lang="en-US" sz="1200" spc="-6" dirty="0">
                <a:solidFill>
                  <a:srgbClr val="07071B">
                    <a:alpha val="100000"/>
                  </a:srgbClr>
                </a:solidFill>
                <a:latin typeface="Roboto" panose="00000700000000000000" pitchFamily="2" charset="0"/>
              </a:rPr>
              <a:t>Catholic Social Teaching recognizes the human as more than data, informing AI programming to focus on the human, including commitment to peace and an emphasis on truth for data authenticity and use.</a:t>
            </a:r>
          </a:p>
        </p:txBody>
      </p:sp>
      <p:pic>
        <p:nvPicPr>
          <p:cNvPr id="43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4775200" y="5554980"/>
            <a:ext cx="698500" cy="698500"/>
          </a:xfrm>
          <a:prstGeom prst="rect">
            <a:avLst/>
          </a:prstGeom>
        </p:spPr>
      </p:pic>
      <p:pic>
        <p:nvPicPr>
          <p:cNvPr id="440" name="iconNode4">
            <a:extLst>
              <a:ext uri="{FF2B5EF4-FFF2-40B4-BE49-F238E27FC236}">
                <a16:creationId xmlns:a16="http://schemas.microsoft.com/office/drawing/2014/main" id="{A8642F66-C0BB-4949-9A9C-024B120A5D52}"/>
              </a:ext>
            </a:extLst>
          </p:cNvPr>
          <p:cNvPicPr>
            <a:picLocks noChangeAspect="1"/>
          </p:cNvPicPr>
          <p:nvPr/>
        </p:nvPicPr>
        <p:blipFill rotWithShape="1">
          <a:blip r:embed="rId133">
            <a:alphaModFix/>
            <a:extLst>
              <a:ext uri="{58980C35-1A38-4F70-A707-DC2EB3D4D5CE}">
                <asvg:svgBlip xmlns="" xmlns:a16="http://schemas.microsoft.com/office/drawing/2014/main" xmlns:a14="http://schemas.microsoft.com/office/drawing/2010/main" xmlns:p14="http://schemas.microsoft.com/office/powerpoint/2010/main" xmlns:asvg="http://schemas.microsoft.com/office/drawing/2016/SVG/main" r:embed="rId137"/>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4950397" y="5730177"/>
            <a:ext cx="350457" cy="350457"/>
          </a:xfrm>
          <a:prstGeom prst="rect">
            <a:avLst/>
          </a:prstGeom>
        </p:spPr>
      </p:pic>
      <p:sp>
        <p:nvSpPr>
          <p:cNvPr id="442" name="Primary Heading-4">
            <a:extLst>
              <a:ext uri="{FF2B5EF4-FFF2-40B4-BE49-F238E27FC236}">
                <a16:creationId xmlns:a16="http://schemas.microsoft.com/office/drawing/2014/main" id="{111B4A49-B930-4A89-A1CD-6CA2B3D95AED}"/>
              </a:ext>
            </a:extLst>
          </p:cNvPr>
          <p:cNvSpPr txBox="1"/>
          <p:nvPr/>
        </p:nvSpPr>
        <p:spPr>
          <a:xfrm>
            <a:off x="5679377" y="5689473"/>
            <a:ext cx="6029325" cy="419987"/>
          </a:xfrm>
          <a:prstGeom prst="rect">
            <a:avLst/>
          </a:prstGeom>
          <a:noFill/>
        </p:spPr>
        <p:txBody>
          <a:bodyPr vertOverflow="clip" horzOverflow="clip" wrap="square" lIns="0" tIns="0" rIns="0" bIns="0" rtlCol="0" anchor="t">
            <a:spAutoFit/>
          </a:bodyPr>
          <a:lstStyle/>
          <a:p>
            <a:pPr>
              <a:lnSpc>
                <a:spcPts val="1740"/>
              </a:lnSpc>
            </a:pPr>
            <a:r>
              <a:rPr lang="en-US" sz="1200" spc="-6" dirty="0">
                <a:solidFill>
                  <a:srgbClr val="07071B">
                    <a:alpha val="100000"/>
                  </a:srgbClr>
                </a:solidFill>
                <a:latin typeface="Roboto" panose="00000700000000000000" pitchFamily="2" charset="0"/>
              </a:rPr>
              <a:t>Catholic Social Teaching is based on 2,000 years of values, morals and principles offering rich, high quality data.</a:t>
            </a:r>
          </a:p>
        </p:txBody>
      </p:sp>
      <p:pic>
        <p:nvPicPr>
          <p:cNvPr id="44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38">
            <a:alphaModFix/>
          </a:blip>
          <a:stretch/>
        </p:blipFill>
        <p:spPr>
          <a:xfrm>
            <a:off x="0" y="4338383"/>
            <a:ext cx="1959503" cy="2519617"/>
          </a:xfrm>
          <a:prstGeom prst="rect">
            <a:avLst/>
          </a:prstGeom>
        </p:spPr>
      </p:pic>
      <p:sp>
        <p:nvSpPr>
          <p:cNvPr id="444" name="Title 3">
            <a:extLst>
              <a:ext uri="{FF2B5EF4-FFF2-40B4-BE49-F238E27FC236}">
                <a16:creationId xmlns:a16="http://schemas.microsoft.com/office/drawing/2014/main" id="{111B4A49-B930-4A89-A1CD-6CA2B3D95AED}"/>
              </a:ext>
            </a:extLst>
          </p:cNvPr>
          <p:cNvSpPr txBox="1"/>
          <p:nvPr/>
        </p:nvSpPr>
        <p:spPr>
          <a:xfrm>
            <a:off x="533400" y="485394"/>
            <a:ext cx="3197225" cy="1935145"/>
          </a:xfrm>
          <a:prstGeom prst="rect">
            <a:avLst/>
          </a:prstGeom>
          <a:noFill/>
        </p:spPr>
        <p:txBody>
          <a:bodyPr vertOverflow="clip" horzOverflow="clip" wrap="square" lIns="0" tIns="0" rIns="0" bIns="0" rtlCol="0" anchor="t">
            <a:spAutoFit/>
          </a:bodyPr>
          <a:lstStyle/>
          <a:p>
            <a:pPr>
              <a:lnSpc>
                <a:spcPts val="3780"/>
              </a:lnSpc>
            </a:pPr>
            <a:r>
              <a:rPr lang="en-US" sz="2800" spc="-61" dirty="0">
                <a:solidFill>
                  <a:srgbClr val="FFFFFF">
                    <a:alpha val="100000"/>
                  </a:srgbClr>
                </a:solidFill>
                <a:latin typeface="Poppins SemiBold" panose="00000700000000000000" pitchFamily="2" charset="0"/>
              </a:rPr>
              <a:t>HOW CATHOLIC SOCIAL TEACHING CAN GUIDE </a:t>
            </a:r>
            <a:r>
              <a:rPr lang="en-US" sz="2800" b="1" spc="-61" dirty="0">
                <a:solidFill>
                  <a:srgbClr val="FFFFFF"/>
                </a:solidFill>
                <a:latin typeface="Poppins SemiBold" panose="00000700000000000000" pitchFamily="2" charset="0"/>
              </a:rPr>
              <a:t>AI PROGRAMMING</a:t>
            </a:r>
          </a:p>
        </p:txBody>
      </p:sp>
      <p:sp>
        <p:nvSpPr>
          <p:cNvPr id="446" name="SubTitle">
            <a:extLst>
              <a:ext uri="{FF2B5EF4-FFF2-40B4-BE49-F238E27FC236}">
                <a16:creationId xmlns:a16="http://schemas.microsoft.com/office/drawing/2014/main" id="{111B4A49-B930-4A89-A1CD-6CA2B3D95AED}"/>
              </a:ext>
            </a:extLst>
          </p:cNvPr>
          <p:cNvSpPr txBox="1"/>
          <p:nvPr/>
        </p:nvSpPr>
        <p:spPr>
          <a:xfrm>
            <a:off x="533400" y="2489201"/>
            <a:ext cx="3197225" cy="419987"/>
          </a:xfrm>
          <a:prstGeom prst="rect">
            <a:avLst/>
          </a:prstGeom>
          <a:noFill/>
        </p:spPr>
        <p:txBody>
          <a:bodyPr vertOverflow="clip" horzOverflow="clip" wrap="square" lIns="0" tIns="0" rIns="0" bIns="0" rtlCol="0" anchor="t">
            <a:spAutoFit/>
          </a:bodyPr>
          <a:lstStyle/>
          <a:p>
            <a:pPr>
              <a:lnSpc>
                <a:spcPts val="1740"/>
              </a:lnSpc>
            </a:pPr>
            <a:r>
              <a:rPr lang="en-US" sz="1200" spc="-6" dirty="0">
                <a:solidFill>
                  <a:srgbClr val="FFFFFF">
                    <a:alpha val="100000"/>
                  </a:srgbClr>
                </a:solidFill>
                <a:latin typeface="Roboto" panose="00000700000000000000" pitchFamily="2" charset="0"/>
              </a:rPr>
              <a:t>Applying 2,000 years of values to ensure dignity, truth, and the common good</a:t>
            </a:r>
          </a:p>
        </p:txBody>
      </p:sp>
      <p:sp>
        <p:nvSpPr>
          <p:cNvPr id="2" name="Footer Placeholder 1">
            <a:extLst>
              <a:ext uri="{FF2B5EF4-FFF2-40B4-BE49-F238E27FC236}">
                <a16:creationId xmlns:a16="http://schemas.microsoft.com/office/drawing/2014/main" id="{ACBD4496-BEDB-810D-8E8D-9D6D70F8F48D}"/>
              </a:ext>
            </a:extLst>
          </p:cNvPr>
          <p:cNvSpPr>
            <a:spLocks noGrp="1"/>
          </p:cNvSpPr>
          <p:nvPr>
            <p:ph type="ftr" sz="quarter" idx="11"/>
          </p:nvPr>
        </p:nvSpPr>
        <p:spPr/>
        <p:txBody>
          <a:bodyPr/>
          <a:lstStyle/>
          <a:p>
            <a:r>
              <a:rPr lang="en-US"/>
              <a:t>by Zoltan Pap © December 25, 2025</a:t>
            </a:r>
          </a:p>
        </p:txBody>
      </p:sp>
    </p:spTree>
    <p:extLst>
      <p:ext uri="{BB962C8B-B14F-4D97-AF65-F5344CB8AC3E}">
        <p14:creationId xmlns:p14="http://schemas.microsoft.com/office/powerpoint/2010/main" val="2546963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2192000" cy="6858000"/>
          </a:xfrm>
          <a:prstGeom prst="rect">
            <a:avLst/>
          </a:prstGeom>
        </p:spPr>
      </p:pic>
      <p:pic>
        <p:nvPicPr>
          <p:cNvPr id="47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2192000" cy="6858000"/>
          </a:xfrm>
          <a:prstGeom prst="rect">
            <a:avLst/>
          </a:prstGeom>
        </p:spPr>
      </p:pic>
      <p:pic>
        <p:nvPicPr>
          <p:cNvPr id="47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0" y="5137249"/>
            <a:ext cx="1574800" cy="1720751"/>
          </a:xfrm>
          <a:prstGeom prst="rect">
            <a:avLst/>
          </a:prstGeom>
        </p:spPr>
      </p:pic>
      <p:pic>
        <p:nvPicPr>
          <p:cNvPr id="47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0376592" y="0"/>
            <a:ext cx="1815405" cy="1917700"/>
          </a:xfrm>
          <a:prstGeom prst="rect">
            <a:avLst/>
          </a:prstGeom>
        </p:spPr>
      </p:pic>
      <p:pic>
        <p:nvPicPr>
          <p:cNvPr id="47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508000" y="2006600"/>
            <a:ext cx="355600" cy="355600"/>
          </a:xfrm>
          <a:prstGeom prst="rect">
            <a:avLst/>
          </a:prstGeom>
        </p:spPr>
      </p:pic>
      <p:sp>
        <p:nvSpPr>
          <p:cNvPr id="478" name="-0">
            <a:extLst>
              <a:ext uri="{FF2B5EF4-FFF2-40B4-BE49-F238E27FC236}">
                <a16:creationId xmlns:a16="http://schemas.microsoft.com/office/drawing/2014/main" id="{111B4A49-B930-4A89-A1CD-6CA2B3D95AED}"/>
              </a:ext>
            </a:extLst>
          </p:cNvPr>
          <p:cNvSpPr txBox="1"/>
          <p:nvPr/>
        </p:nvSpPr>
        <p:spPr>
          <a:xfrm>
            <a:off x="594805" y="2044700"/>
            <a:ext cx="206375" cy="268150"/>
          </a:xfrm>
          <a:prstGeom prst="rect">
            <a:avLst/>
          </a:prstGeom>
          <a:noFill/>
        </p:spPr>
        <p:txBody>
          <a:bodyPr vertOverflow="clip" horzOverflow="clip" wrap="square" lIns="0" tIns="0" rIns="0" bIns="0" rtlCol="0" anchor="t">
            <a:spAutoFit/>
          </a:bodyPr>
          <a:lstStyle/>
          <a:p>
            <a:pPr algn="ctr">
              <a:lnSpc>
                <a:spcPts val="2205"/>
              </a:lnSpc>
            </a:pPr>
            <a:r>
              <a:rPr lang="en-US" sz="1470" spc="-25" dirty="0">
                <a:solidFill>
                  <a:srgbClr val="FFFFFF">
                    <a:alpha val="100000"/>
                  </a:srgbClr>
                </a:solidFill>
                <a:latin typeface="Poppins SemiBold" panose="00000700000000000000" pitchFamily="2" charset="0"/>
              </a:rPr>
              <a:t>01</a:t>
            </a:r>
          </a:p>
        </p:txBody>
      </p:sp>
      <p:sp>
        <p:nvSpPr>
          <p:cNvPr id="480" name="Primary Heading-0">
            <a:extLst>
              <a:ext uri="{FF2B5EF4-FFF2-40B4-BE49-F238E27FC236}">
                <a16:creationId xmlns:a16="http://schemas.microsoft.com/office/drawing/2014/main" id="{111B4A49-B930-4A89-A1CD-6CA2B3D95AED}"/>
              </a:ext>
            </a:extLst>
          </p:cNvPr>
          <p:cNvSpPr txBox="1"/>
          <p:nvPr/>
        </p:nvSpPr>
        <p:spPr>
          <a:xfrm>
            <a:off x="985457" y="2006600"/>
            <a:ext cx="3032125" cy="1063753"/>
          </a:xfrm>
          <a:prstGeom prst="rect">
            <a:avLst/>
          </a:prstGeom>
          <a:noFill/>
        </p:spPr>
        <p:txBody>
          <a:bodyPr vertOverflow="clip" horzOverflow="clip" wrap="square" lIns="0" tIns="0" rIns="0" bIns="0" rtlCol="0" anchor="t">
            <a:spAutoFit/>
          </a:bodyPr>
          <a:lstStyle/>
          <a:p>
            <a:pPr>
              <a:lnSpc>
                <a:spcPts val="2100"/>
              </a:lnSpc>
            </a:pPr>
            <a:r>
              <a:rPr lang="en-US" sz="1400" spc="-25" dirty="0">
                <a:solidFill>
                  <a:srgbClr val="07071B">
                    <a:alpha val="100000"/>
                  </a:srgbClr>
                </a:solidFill>
                <a:latin typeface="Poppins SemiBold" panose="00000700000000000000" pitchFamily="2" charset="0"/>
              </a:rPr>
              <a:t>FOCUS ON THE HUMAN USER AND THEIR FREEDOM TO MAKE THEIR OWN DECISIONS WITH THEIR OWN DATA.</a:t>
            </a:r>
          </a:p>
        </p:txBody>
      </p:sp>
      <p:sp>
        <p:nvSpPr>
          <p:cNvPr id="482" name="Description of a primary heading-0">
            <a:extLst>
              <a:ext uri="{FF2B5EF4-FFF2-40B4-BE49-F238E27FC236}">
                <a16:creationId xmlns:a16="http://schemas.microsoft.com/office/drawing/2014/main" id="{111B4A49-B930-4A89-A1CD-6CA2B3D95AED}"/>
              </a:ext>
            </a:extLst>
          </p:cNvPr>
          <p:cNvSpPr txBox="1"/>
          <p:nvPr/>
        </p:nvSpPr>
        <p:spPr>
          <a:xfrm>
            <a:off x="508000" y="3175000"/>
            <a:ext cx="3508375" cy="201978"/>
          </a:xfrm>
          <a:prstGeom prst="rect">
            <a:avLst/>
          </a:prstGeom>
          <a:noFill/>
        </p:spPr>
        <p:txBody>
          <a:bodyPr vertOverflow="clip" horzOverflow="clip" wrap="square" lIns="0" tIns="0" rIns="0" bIns="0" rtlCol="0" anchor="t">
            <a:spAutoFit/>
          </a:bodyPr>
          <a:lstStyle/>
          <a:p>
            <a:pPr>
              <a:lnSpc>
                <a:spcPts val="1740"/>
              </a:lnSpc>
            </a:pPr>
            <a:r>
              <a:rPr lang="en-US" sz="1200" spc="-6" dirty="0">
                <a:solidFill>
                  <a:srgbClr val="07071B">
                    <a:alpha val="100000"/>
                  </a:srgbClr>
                </a:solidFill>
                <a:latin typeface="Roboto" panose="00000700000000000000" pitchFamily="2" charset="0"/>
              </a:rPr>
              <a:t>Emphasizes individual autonomy and data rights.</a:t>
            </a:r>
          </a:p>
        </p:txBody>
      </p:sp>
      <p:pic>
        <p:nvPicPr>
          <p:cNvPr id="48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4351845" y="2006600"/>
            <a:ext cx="355600" cy="355600"/>
          </a:xfrm>
          <a:prstGeom prst="rect">
            <a:avLst/>
          </a:prstGeom>
        </p:spPr>
      </p:pic>
      <p:sp>
        <p:nvSpPr>
          <p:cNvPr id="486" name="-1">
            <a:extLst>
              <a:ext uri="{FF2B5EF4-FFF2-40B4-BE49-F238E27FC236}">
                <a16:creationId xmlns:a16="http://schemas.microsoft.com/office/drawing/2014/main" id="{111B4A49-B930-4A89-A1CD-6CA2B3D95AED}"/>
              </a:ext>
            </a:extLst>
          </p:cNvPr>
          <p:cNvSpPr txBox="1"/>
          <p:nvPr/>
        </p:nvSpPr>
        <p:spPr>
          <a:xfrm>
            <a:off x="4418901" y="2044700"/>
            <a:ext cx="244475" cy="268150"/>
          </a:xfrm>
          <a:prstGeom prst="rect">
            <a:avLst/>
          </a:prstGeom>
          <a:noFill/>
        </p:spPr>
        <p:txBody>
          <a:bodyPr vertOverflow="clip" horzOverflow="clip" wrap="square" lIns="0" tIns="0" rIns="0" bIns="0" rtlCol="0" anchor="t">
            <a:spAutoFit/>
          </a:bodyPr>
          <a:lstStyle/>
          <a:p>
            <a:pPr algn="ctr">
              <a:lnSpc>
                <a:spcPts val="2205"/>
              </a:lnSpc>
            </a:pPr>
            <a:r>
              <a:rPr lang="en-US" sz="1470" spc="-25" dirty="0">
                <a:solidFill>
                  <a:srgbClr val="FFFFFF">
                    <a:alpha val="100000"/>
                  </a:srgbClr>
                </a:solidFill>
                <a:latin typeface="Poppins SemiBold" panose="00000700000000000000" pitchFamily="2" charset="0"/>
              </a:rPr>
              <a:t>02</a:t>
            </a:r>
          </a:p>
        </p:txBody>
      </p:sp>
      <p:sp>
        <p:nvSpPr>
          <p:cNvPr id="488" name="Primary Heading-1">
            <a:extLst>
              <a:ext uri="{FF2B5EF4-FFF2-40B4-BE49-F238E27FC236}">
                <a16:creationId xmlns:a16="http://schemas.microsoft.com/office/drawing/2014/main" id="{111B4A49-B930-4A89-A1CD-6CA2B3D95AED}"/>
              </a:ext>
            </a:extLst>
          </p:cNvPr>
          <p:cNvSpPr txBox="1"/>
          <p:nvPr/>
        </p:nvSpPr>
        <p:spPr>
          <a:xfrm>
            <a:off x="4829302" y="2006600"/>
            <a:ext cx="3032125" cy="1333057"/>
          </a:xfrm>
          <a:prstGeom prst="rect">
            <a:avLst/>
          </a:prstGeom>
          <a:noFill/>
        </p:spPr>
        <p:txBody>
          <a:bodyPr vertOverflow="clip" horzOverflow="clip" wrap="square" lIns="0" tIns="0" rIns="0" bIns="0" rtlCol="0" anchor="t">
            <a:spAutoFit/>
          </a:bodyPr>
          <a:lstStyle/>
          <a:p>
            <a:pPr>
              <a:lnSpc>
                <a:spcPts val="2100"/>
              </a:lnSpc>
            </a:pPr>
            <a:r>
              <a:rPr lang="en-US" sz="1400" spc="-25" dirty="0">
                <a:solidFill>
                  <a:srgbClr val="07071B">
                    <a:alpha val="100000"/>
                  </a:srgbClr>
                </a:solidFill>
                <a:latin typeface="Poppins SemiBold" panose="00000700000000000000" pitchFamily="2" charset="0"/>
              </a:rPr>
              <a:t>DATA AND USER CONNECTIONS IN A TRUSTED SOCIAL NETWORK LEADING TO AUTHENTICITY AND PERSONAL DECISION MAKING IN THE VIRTUAL WORLD.</a:t>
            </a:r>
          </a:p>
        </p:txBody>
      </p:sp>
      <p:sp>
        <p:nvSpPr>
          <p:cNvPr id="490" name="Description of a primary heading-1">
            <a:extLst>
              <a:ext uri="{FF2B5EF4-FFF2-40B4-BE49-F238E27FC236}">
                <a16:creationId xmlns:a16="http://schemas.microsoft.com/office/drawing/2014/main" id="{111B4A49-B930-4A89-A1CD-6CA2B3D95AED}"/>
              </a:ext>
            </a:extLst>
          </p:cNvPr>
          <p:cNvSpPr txBox="1"/>
          <p:nvPr/>
        </p:nvSpPr>
        <p:spPr>
          <a:xfrm>
            <a:off x="4351845" y="3441700"/>
            <a:ext cx="3508375" cy="201978"/>
          </a:xfrm>
          <a:prstGeom prst="rect">
            <a:avLst/>
          </a:prstGeom>
          <a:noFill/>
        </p:spPr>
        <p:txBody>
          <a:bodyPr vertOverflow="clip" horzOverflow="clip" wrap="square" lIns="0" tIns="0" rIns="0" bIns="0" rtlCol="0" anchor="t">
            <a:spAutoFit/>
          </a:bodyPr>
          <a:lstStyle/>
          <a:p>
            <a:pPr>
              <a:lnSpc>
                <a:spcPts val="1740"/>
              </a:lnSpc>
            </a:pPr>
            <a:r>
              <a:rPr lang="en-US" sz="1200" spc="-6" dirty="0">
                <a:solidFill>
                  <a:srgbClr val="07071B">
                    <a:alpha val="100000"/>
                  </a:srgbClr>
                </a:solidFill>
                <a:latin typeface="Roboto" panose="00000700000000000000" pitchFamily="2" charset="0"/>
              </a:rPr>
              <a:t>Trusted networks foster authentic choices online.</a:t>
            </a:r>
          </a:p>
        </p:txBody>
      </p:sp>
      <p:pic>
        <p:nvPicPr>
          <p:cNvPr id="49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8195691" y="2006600"/>
            <a:ext cx="355600" cy="355600"/>
          </a:xfrm>
          <a:prstGeom prst="rect">
            <a:avLst/>
          </a:prstGeom>
        </p:spPr>
      </p:pic>
      <p:sp>
        <p:nvSpPr>
          <p:cNvPr id="494" name="-2">
            <a:extLst>
              <a:ext uri="{FF2B5EF4-FFF2-40B4-BE49-F238E27FC236}">
                <a16:creationId xmlns:a16="http://schemas.microsoft.com/office/drawing/2014/main" id="{111B4A49-B930-4A89-A1CD-6CA2B3D95AED}"/>
              </a:ext>
            </a:extLst>
          </p:cNvPr>
          <p:cNvSpPr txBox="1"/>
          <p:nvPr/>
        </p:nvSpPr>
        <p:spPr>
          <a:xfrm>
            <a:off x="8260334" y="2044700"/>
            <a:ext cx="250825" cy="268150"/>
          </a:xfrm>
          <a:prstGeom prst="rect">
            <a:avLst/>
          </a:prstGeom>
          <a:noFill/>
        </p:spPr>
        <p:txBody>
          <a:bodyPr vertOverflow="clip" horzOverflow="clip" wrap="square" lIns="0" tIns="0" rIns="0" bIns="0" rtlCol="0" anchor="t">
            <a:spAutoFit/>
          </a:bodyPr>
          <a:lstStyle/>
          <a:p>
            <a:pPr algn="ctr">
              <a:lnSpc>
                <a:spcPts val="2205"/>
              </a:lnSpc>
            </a:pPr>
            <a:r>
              <a:rPr lang="en-US" sz="1470" spc="-25" dirty="0">
                <a:solidFill>
                  <a:srgbClr val="FFFFFF">
                    <a:alpha val="100000"/>
                  </a:srgbClr>
                </a:solidFill>
                <a:latin typeface="Poppins SemiBold" panose="00000700000000000000" pitchFamily="2" charset="0"/>
              </a:rPr>
              <a:t>03</a:t>
            </a:r>
          </a:p>
        </p:txBody>
      </p:sp>
      <p:sp>
        <p:nvSpPr>
          <p:cNvPr id="496" name="Primary Heading-2">
            <a:extLst>
              <a:ext uri="{FF2B5EF4-FFF2-40B4-BE49-F238E27FC236}">
                <a16:creationId xmlns:a16="http://schemas.microsoft.com/office/drawing/2014/main" id="{111B4A49-B930-4A89-A1CD-6CA2B3D95AED}"/>
              </a:ext>
            </a:extLst>
          </p:cNvPr>
          <p:cNvSpPr txBox="1"/>
          <p:nvPr/>
        </p:nvSpPr>
        <p:spPr>
          <a:xfrm>
            <a:off x="8673084" y="2006600"/>
            <a:ext cx="3032125" cy="1602362"/>
          </a:xfrm>
          <a:prstGeom prst="rect">
            <a:avLst/>
          </a:prstGeom>
          <a:noFill/>
        </p:spPr>
        <p:txBody>
          <a:bodyPr vertOverflow="clip" horzOverflow="clip" wrap="square" lIns="0" tIns="0" rIns="0" bIns="0" rtlCol="0" anchor="t">
            <a:spAutoFit/>
          </a:bodyPr>
          <a:lstStyle/>
          <a:p>
            <a:pPr>
              <a:lnSpc>
                <a:spcPts val="2100"/>
              </a:lnSpc>
            </a:pPr>
            <a:r>
              <a:rPr lang="en-US" sz="1400" spc="-25" dirty="0">
                <a:solidFill>
                  <a:srgbClr val="07071B">
                    <a:alpha val="100000"/>
                  </a:srgbClr>
                </a:solidFill>
                <a:latin typeface="Poppins SemiBold" panose="00000700000000000000" pitchFamily="2" charset="0"/>
              </a:rPr>
              <a:t>PATHWAY TO CONTROL AND MONETIZE PERSONAL DATA AS “DATA BASED INCOME” RATHER THAN DEPENDENCE ON TECH TITANS, PROVIDING ECONOMIC FREEDOM.</a:t>
            </a:r>
          </a:p>
        </p:txBody>
      </p:sp>
      <p:sp>
        <p:nvSpPr>
          <p:cNvPr id="498" name="Description of a primary heading-2">
            <a:extLst>
              <a:ext uri="{FF2B5EF4-FFF2-40B4-BE49-F238E27FC236}">
                <a16:creationId xmlns:a16="http://schemas.microsoft.com/office/drawing/2014/main" id="{111B4A49-B930-4A89-A1CD-6CA2B3D95AED}"/>
              </a:ext>
            </a:extLst>
          </p:cNvPr>
          <p:cNvSpPr txBox="1"/>
          <p:nvPr/>
        </p:nvSpPr>
        <p:spPr>
          <a:xfrm>
            <a:off x="8195691" y="3708400"/>
            <a:ext cx="3508375" cy="419987"/>
          </a:xfrm>
          <a:prstGeom prst="rect">
            <a:avLst/>
          </a:prstGeom>
          <a:noFill/>
        </p:spPr>
        <p:txBody>
          <a:bodyPr vertOverflow="clip" horzOverflow="clip" wrap="square" lIns="0" tIns="0" rIns="0" bIns="0" rtlCol="0" anchor="t">
            <a:spAutoFit/>
          </a:bodyPr>
          <a:lstStyle/>
          <a:p>
            <a:pPr>
              <a:lnSpc>
                <a:spcPts val="1740"/>
              </a:lnSpc>
            </a:pPr>
            <a:r>
              <a:rPr lang="en-US" sz="1200" spc="-6" dirty="0">
                <a:solidFill>
                  <a:srgbClr val="07071B">
                    <a:alpha val="100000"/>
                  </a:srgbClr>
                </a:solidFill>
                <a:latin typeface="Roboto" panose="00000700000000000000" pitchFamily="2" charset="0"/>
              </a:rPr>
              <a:t>Personal data becomes a source of income and independence.</a:t>
            </a:r>
          </a:p>
        </p:txBody>
      </p:sp>
      <p:pic>
        <p:nvPicPr>
          <p:cNvPr id="50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508000" y="4356100"/>
            <a:ext cx="355600" cy="355600"/>
          </a:xfrm>
          <a:prstGeom prst="rect">
            <a:avLst/>
          </a:prstGeom>
        </p:spPr>
      </p:pic>
      <p:sp>
        <p:nvSpPr>
          <p:cNvPr id="502" name="-3">
            <a:extLst>
              <a:ext uri="{FF2B5EF4-FFF2-40B4-BE49-F238E27FC236}">
                <a16:creationId xmlns:a16="http://schemas.microsoft.com/office/drawing/2014/main" id="{111B4A49-B930-4A89-A1CD-6CA2B3D95AED}"/>
              </a:ext>
            </a:extLst>
          </p:cNvPr>
          <p:cNvSpPr txBox="1"/>
          <p:nvPr/>
        </p:nvSpPr>
        <p:spPr>
          <a:xfrm>
            <a:off x="566928" y="4394200"/>
            <a:ext cx="257175" cy="268150"/>
          </a:xfrm>
          <a:prstGeom prst="rect">
            <a:avLst/>
          </a:prstGeom>
          <a:noFill/>
        </p:spPr>
        <p:txBody>
          <a:bodyPr vertOverflow="clip" horzOverflow="clip" wrap="square" lIns="0" tIns="0" rIns="0" bIns="0" rtlCol="0" anchor="t">
            <a:spAutoFit/>
          </a:bodyPr>
          <a:lstStyle/>
          <a:p>
            <a:pPr algn="ctr">
              <a:lnSpc>
                <a:spcPts val="2205"/>
              </a:lnSpc>
            </a:pPr>
            <a:r>
              <a:rPr lang="en-US" sz="1470" spc="-25" dirty="0">
                <a:solidFill>
                  <a:srgbClr val="FFFFFF">
                    <a:alpha val="100000"/>
                  </a:srgbClr>
                </a:solidFill>
                <a:latin typeface="Poppins SemiBold" panose="00000700000000000000" pitchFamily="2" charset="0"/>
              </a:rPr>
              <a:t>04</a:t>
            </a:r>
          </a:p>
        </p:txBody>
      </p:sp>
      <p:sp>
        <p:nvSpPr>
          <p:cNvPr id="504" name="Primary Heading-3">
            <a:extLst>
              <a:ext uri="{FF2B5EF4-FFF2-40B4-BE49-F238E27FC236}">
                <a16:creationId xmlns:a16="http://schemas.microsoft.com/office/drawing/2014/main" id="{111B4A49-B930-4A89-A1CD-6CA2B3D95AED}"/>
              </a:ext>
            </a:extLst>
          </p:cNvPr>
          <p:cNvSpPr txBox="1"/>
          <p:nvPr/>
        </p:nvSpPr>
        <p:spPr>
          <a:xfrm>
            <a:off x="985457" y="4356100"/>
            <a:ext cx="3032125" cy="1063753"/>
          </a:xfrm>
          <a:prstGeom prst="rect">
            <a:avLst/>
          </a:prstGeom>
          <a:noFill/>
        </p:spPr>
        <p:txBody>
          <a:bodyPr vertOverflow="clip" horzOverflow="clip" wrap="square" lIns="0" tIns="0" rIns="0" bIns="0" rtlCol="0" anchor="t">
            <a:spAutoFit/>
          </a:bodyPr>
          <a:lstStyle/>
          <a:p>
            <a:pPr>
              <a:lnSpc>
                <a:spcPts val="2100"/>
              </a:lnSpc>
            </a:pPr>
            <a:r>
              <a:rPr lang="en-US" sz="1400" spc="-25" dirty="0">
                <a:solidFill>
                  <a:srgbClr val="07071B">
                    <a:alpha val="100000"/>
                  </a:srgbClr>
                </a:solidFill>
                <a:latin typeface="Poppins SemiBold" panose="00000700000000000000" pitchFamily="2" charset="0"/>
              </a:rPr>
              <a:t>INCREASED CONNECTIONS WITHIN A TRUSTED SOCIAL NETWORK TO OTHERS IN THE CATHOLIC FAITH AND CHURCH.</a:t>
            </a:r>
          </a:p>
        </p:txBody>
      </p:sp>
      <p:sp>
        <p:nvSpPr>
          <p:cNvPr id="506" name="Description of a primary heading-3">
            <a:extLst>
              <a:ext uri="{FF2B5EF4-FFF2-40B4-BE49-F238E27FC236}">
                <a16:creationId xmlns:a16="http://schemas.microsoft.com/office/drawing/2014/main" id="{111B4A49-B930-4A89-A1CD-6CA2B3D95AED}"/>
              </a:ext>
            </a:extLst>
          </p:cNvPr>
          <p:cNvSpPr txBox="1"/>
          <p:nvPr/>
        </p:nvSpPr>
        <p:spPr>
          <a:xfrm>
            <a:off x="508000" y="5524500"/>
            <a:ext cx="3508375" cy="201978"/>
          </a:xfrm>
          <a:prstGeom prst="rect">
            <a:avLst/>
          </a:prstGeom>
          <a:noFill/>
        </p:spPr>
        <p:txBody>
          <a:bodyPr vertOverflow="clip" horzOverflow="clip" wrap="square" lIns="0" tIns="0" rIns="0" bIns="0" rtlCol="0" anchor="t">
            <a:spAutoFit/>
          </a:bodyPr>
          <a:lstStyle/>
          <a:p>
            <a:pPr>
              <a:lnSpc>
                <a:spcPts val="1740"/>
              </a:lnSpc>
            </a:pPr>
            <a:r>
              <a:rPr lang="en-US" sz="1200" spc="-6" dirty="0">
                <a:solidFill>
                  <a:srgbClr val="07071B">
                    <a:alpha val="100000"/>
                  </a:srgbClr>
                </a:solidFill>
                <a:latin typeface="Roboto" panose="00000700000000000000" pitchFamily="2" charset="0"/>
              </a:rPr>
              <a:t>Strengthens faith-based community ties online.</a:t>
            </a:r>
          </a:p>
        </p:txBody>
      </p:sp>
      <p:pic>
        <p:nvPicPr>
          <p:cNvPr id="50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4351845" y="4356100"/>
            <a:ext cx="355600" cy="355600"/>
          </a:xfrm>
          <a:prstGeom prst="rect">
            <a:avLst/>
          </a:prstGeom>
        </p:spPr>
      </p:pic>
      <p:sp>
        <p:nvSpPr>
          <p:cNvPr id="510" name="-4">
            <a:extLst>
              <a:ext uri="{FF2B5EF4-FFF2-40B4-BE49-F238E27FC236}">
                <a16:creationId xmlns:a16="http://schemas.microsoft.com/office/drawing/2014/main" id="{111B4A49-B930-4A89-A1CD-6CA2B3D95AED}"/>
              </a:ext>
            </a:extLst>
          </p:cNvPr>
          <p:cNvSpPr txBox="1"/>
          <p:nvPr/>
        </p:nvSpPr>
        <p:spPr>
          <a:xfrm>
            <a:off x="4412361" y="4394200"/>
            <a:ext cx="257175" cy="268150"/>
          </a:xfrm>
          <a:prstGeom prst="rect">
            <a:avLst/>
          </a:prstGeom>
          <a:noFill/>
        </p:spPr>
        <p:txBody>
          <a:bodyPr vertOverflow="clip" horzOverflow="clip" wrap="square" lIns="0" tIns="0" rIns="0" bIns="0" rtlCol="0" anchor="t">
            <a:spAutoFit/>
          </a:bodyPr>
          <a:lstStyle/>
          <a:p>
            <a:pPr algn="ctr">
              <a:lnSpc>
                <a:spcPts val="2205"/>
              </a:lnSpc>
            </a:pPr>
            <a:r>
              <a:rPr lang="en-US" sz="1470" spc="-25" dirty="0">
                <a:solidFill>
                  <a:srgbClr val="FFFFFF">
                    <a:alpha val="100000"/>
                  </a:srgbClr>
                </a:solidFill>
                <a:latin typeface="Poppins SemiBold" panose="00000700000000000000" pitchFamily="2" charset="0"/>
              </a:rPr>
              <a:t>05</a:t>
            </a:r>
          </a:p>
        </p:txBody>
      </p:sp>
      <p:sp>
        <p:nvSpPr>
          <p:cNvPr id="512" name="Primary Heading-4">
            <a:extLst>
              <a:ext uri="{FF2B5EF4-FFF2-40B4-BE49-F238E27FC236}">
                <a16:creationId xmlns:a16="http://schemas.microsoft.com/office/drawing/2014/main" id="{111B4A49-B930-4A89-A1CD-6CA2B3D95AED}"/>
              </a:ext>
            </a:extLst>
          </p:cNvPr>
          <p:cNvSpPr txBox="1"/>
          <p:nvPr/>
        </p:nvSpPr>
        <p:spPr>
          <a:xfrm>
            <a:off x="4829302" y="4356100"/>
            <a:ext cx="3032125" cy="1063753"/>
          </a:xfrm>
          <a:prstGeom prst="rect">
            <a:avLst/>
          </a:prstGeom>
          <a:noFill/>
        </p:spPr>
        <p:txBody>
          <a:bodyPr vertOverflow="clip" horzOverflow="clip" wrap="square" lIns="0" tIns="0" rIns="0" bIns="0" rtlCol="0" anchor="t">
            <a:spAutoFit/>
          </a:bodyPr>
          <a:lstStyle/>
          <a:p>
            <a:pPr>
              <a:lnSpc>
                <a:spcPts val="2100"/>
              </a:lnSpc>
            </a:pPr>
            <a:r>
              <a:rPr lang="en-US" sz="1400" spc="-25" dirty="0">
                <a:solidFill>
                  <a:srgbClr val="07071B">
                    <a:alpha val="100000"/>
                  </a:srgbClr>
                </a:solidFill>
                <a:latin typeface="Poppins SemiBold" panose="00000700000000000000" pitchFamily="2" charset="0"/>
              </a:rPr>
              <a:t>INCREASED VISIBILITY TO THE VALUES AND PRINCIPLES WHICH MAKE UP CATHOLIC SOCIAL TEACHING.</a:t>
            </a:r>
          </a:p>
        </p:txBody>
      </p:sp>
      <p:sp>
        <p:nvSpPr>
          <p:cNvPr id="514" name="Description of a primary heading-4">
            <a:extLst>
              <a:ext uri="{FF2B5EF4-FFF2-40B4-BE49-F238E27FC236}">
                <a16:creationId xmlns:a16="http://schemas.microsoft.com/office/drawing/2014/main" id="{111B4A49-B930-4A89-A1CD-6CA2B3D95AED}"/>
              </a:ext>
            </a:extLst>
          </p:cNvPr>
          <p:cNvSpPr txBox="1"/>
          <p:nvPr/>
        </p:nvSpPr>
        <p:spPr>
          <a:xfrm>
            <a:off x="4351845" y="5524500"/>
            <a:ext cx="3508375" cy="201978"/>
          </a:xfrm>
          <a:prstGeom prst="rect">
            <a:avLst/>
          </a:prstGeom>
          <a:noFill/>
        </p:spPr>
        <p:txBody>
          <a:bodyPr vertOverflow="clip" horzOverflow="clip" wrap="square" lIns="0" tIns="0" rIns="0" bIns="0" rtlCol="0" anchor="t">
            <a:spAutoFit/>
          </a:bodyPr>
          <a:lstStyle/>
          <a:p>
            <a:pPr>
              <a:lnSpc>
                <a:spcPts val="1740"/>
              </a:lnSpc>
            </a:pPr>
            <a:r>
              <a:rPr lang="en-US" sz="1200" spc="-6" dirty="0">
                <a:solidFill>
                  <a:srgbClr val="07071B">
                    <a:alpha val="100000"/>
                  </a:srgbClr>
                </a:solidFill>
                <a:latin typeface="Roboto" panose="00000700000000000000" pitchFamily="2" charset="0"/>
              </a:rPr>
              <a:t>Makes CST principles more visible and actionable.</a:t>
            </a:r>
          </a:p>
        </p:txBody>
      </p:sp>
      <p:sp>
        <p:nvSpPr>
          <p:cNvPr id="516" name="Title 3">
            <a:extLst>
              <a:ext uri="{FF2B5EF4-FFF2-40B4-BE49-F238E27FC236}">
                <a16:creationId xmlns:a16="http://schemas.microsoft.com/office/drawing/2014/main" id="{111B4A49-B930-4A89-A1CD-6CA2B3D95AED}"/>
              </a:ext>
            </a:extLst>
          </p:cNvPr>
          <p:cNvSpPr txBox="1"/>
          <p:nvPr/>
        </p:nvSpPr>
        <p:spPr>
          <a:xfrm>
            <a:off x="508000" y="487046"/>
            <a:ext cx="10551886" cy="885499"/>
          </a:xfrm>
          <a:prstGeom prst="rect">
            <a:avLst/>
          </a:prstGeom>
          <a:noFill/>
        </p:spPr>
        <p:txBody>
          <a:bodyPr vertOverflow="clip" horzOverflow="clip" wrap="square" lIns="0" tIns="0" rIns="0" bIns="0" rtlCol="0" anchor="t">
            <a:spAutoFit/>
          </a:bodyPr>
          <a:lstStyle/>
          <a:p>
            <a:pPr>
              <a:lnSpc>
                <a:spcPts val="3510"/>
              </a:lnSpc>
            </a:pPr>
            <a:r>
              <a:rPr lang="en-US" sz="2600" spc="-61" dirty="0">
                <a:solidFill>
                  <a:srgbClr val="07071B">
                    <a:alpha val="100000"/>
                  </a:srgbClr>
                </a:solidFill>
                <a:latin typeface="Poppins SemiBold" panose="00000700000000000000" pitchFamily="2" charset="0"/>
              </a:rPr>
              <a:t>CATHOLIC SOCIAL TEACHING AT THE CORE OF </a:t>
            </a:r>
            <a:r>
              <a:rPr lang="en-US" sz="2600" b="1" spc="-61" dirty="0">
                <a:solidFill>
                  <a:srgbClr val="07071B"/>
                </a:solidFill>
                <a:latin typeface="Poppins SemiBold" panose="00000700000000000000" pitchFamily="2" charset="0"/>
              </a:rPr>
              <a:t>DATA SOVEREIGNTY, SOVEREIGN AI, AND VALUE-BASED AI PROGRAMMING</a:t>
            </a:r>
          </a:p>
        </p:txBody>
      </p:sp>
      <p:sp>
        <p:nvSpPr>
          <p:cNvPr id="518" name="SubTitle">
            <a:extLst>
              <a:ext uri="{FF2B5EF4-FFF2-40B4-BE49-F238E27FC236}">
                <a16:creationId xmlns:a16="http://schemas.microsoft.com/office/drawing/2014/main" id="{111B4A49-B930-4A89-A1CD-6CA2B3D95AED}"/>
              </a:ext>
            </a:extLst>
          </p:cNvPr>
          <p:cNvSpPr txBox="1"/>
          <p:nvPr/>
        </p:nvSpPr>
        <p:spPr>
          <a:xfrm>
            <a:off x="508000" y="1473200"/>
            <a:ext cx="10131425" cy="201978"/>
          </a:xfrm>
          <a:prstGeom prst="rect">
            <a:avLst/>
          </a:prstGeom>
          <a:noFill/>
        </p:spPr>
        <p:txBody>
          <a:bodyPr vertOverflow="clip" horzOverflow="clip" wrap="square" lIns="0" tIns="0" rIns="0" bIns="0" rtlCol="0" anchor="t">
            <a:spAutoFit/>
          </a:bodyPr>
          <a:lstStyle/>
          <a:p>
            <a:pPr>
              <a:lnSpc>
                <a:spcPts val="1740"/>
              </a:lnSpc>
            </a:pPr>
            <a:r>
              <a:rPr lang="en-US" sz="1200" spc="-6" dirty="0">
                <a:solidFill>
                  <a:srgbClr val="6C6C80">
                    <a:alpha val="100000"/>
                  </a:srgbClr>
                </a:solidFill>
                <a:latin typeface="Roboto" panose="00000700000000000000" pitchFamily="2" charset="0"/>
              </a:rPr>
              <a:t>Guiding values through Catholic Social Teaching</a:t>
            </a:r>
          </a:p>
        </p:txBody>
      </p:sp>
      <p:sp>
        <p:nvSpPr>
          <p:cNvPr id="2" name="Footer Placeholder 1">
            <a:extLst>
              <a:ext uri="{FF2B5EF4-FFF2-40B4-BE49-F238E27FC236}">
                <a16:creationId xmlns:a16="http://schemas.microsoft.com/office/drawing/2014/main" id="{E8D2F976-8E2B-22E1-27CF-7E1C85D8B4E9}"/>
              </a:ext>
            </a:extLst>
          </p:cNvPr>
          <p:cNvSpPr>
            <a:spLocks noGrp="1"/>
          </p:cNvSpPr>
          <p:nvPr>
            <p:ph type="ftr" sz="quarter" idx="11"/>
          </p:nvPr>
        </p:nvSpPr>
        <p:spPr/>
        <p:txBody>
          <a:bodyPr/>
          <a:lstStyle/>
          <a:p>
            <a:r>
              <a:rPr lang="en-US"/>
              <a:t>by Zoltan Pap © December 25, 2025</a:t>
            </a:r>
          </a:p>
        </p:txBody>
      </p:sp>
    </p:spTree>
    <p:extLst>
      <p:ext uri="{BB962C8B-B14F-4D97-AF65-F5344CB8AC3E}">
        <p14:creationId xmlns:p14="http://schemas.microsoft.com/office/powerpoint/2010/main" val="24165454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10049</TotalTime>
  <Words>1317</Words>
  <Application>Microsoft Macintosh PowerPoint</Application>
  <PresentationFormat>Widescreen</PresentationFormat>
  <Paragraphs>104</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Arial</vt:lpstr>
      <vt:lpstr>Calibri</vt:lpstr>
      <vt:lpstr>Calibri Light</vt:lpstr>
      <vt:lpstr>Inter</vt:lpstr>
      <vt:lpstr>Inter SemiBold</vt:lpstr>
      <vt:lpstr>Poppins SemiBold</vt:lpstr>
      <vt:lpstr>Roboto</vt:lpstr>
      <vt:lpstr>Symbol</vt:lpstr>
      <vt:lpstr>Office Theme</vt:lpstr>
      <vt:lpstr>Sovereign Data, Sovereign AI, Value-Based AI Programming  and the Relationship to  Catholic Social Teaching </vt:lpstr>
      <vt:lpstr>PowerPoint Presentation</vt:lpstr>
      <vt:lpstr>PowerPoint Presentation</vt:lpstr>
      <vt:lpstr>What is Value-Based AI Programming</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Sovereign Data, Sovereign AI, Value-Based AI Programming and the  Relationship to Catholic Social Teachings </dc:title>
  <dc:creator>Zoltan Papp</dc:creator>
  <cp:lastModifiedBy>Zoltan Papp</cp:lastModifiedBy>
  <cp:revision>12</cp:revision>
  <dcterms:created xsi:type="dcterms:W3CDTF">2025-12-26T08:39:02Z</dcterms:created>
  <dcterms:modified xsi:type="dcterms:W3CDTF">2026-01-02T12:08:12Z</dcterms:modified>
</cp:coreProperties>
</file>